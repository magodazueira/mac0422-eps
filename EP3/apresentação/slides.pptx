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12720" y="1715400"/>
            <a:ext cx="10652760" cy="45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3BD315-8D89-4543-A755-53373283CF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5918D3E-4892-4EA1-8FF8-8DF4A69B58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D9C7CBD-178B-4A96-9D63-F514A0026D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12720" y="1715400"/>
            <a:ext cx="10652760" cy="45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5C5FDB3-7FB2-4805-B697-B134317454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E2F6227-79D0-473E-8D8A-85F513DF41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12720" y="1715400"/>
            <a:ext cx="5198400" cy="45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071400" y="1715400"/>
            <a:ext cx="5198400" cy="45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9D32432-DE37-42C1-822F-DF4D6DE8E3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AC493C1-4ABB-4F6E-B685-FD7A67F1DC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305F476-6620-4FF6-94EE-251B67FE7A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2F70EC8-00E5-4B64-B2AC-2153472D86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EC722DA0-8B1D-4111-AE62-2C7407B936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1FF6762F-9DC5-40FA-A521-70DBECC641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887652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116323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/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E05D61-DF6A-417B-A74B-8088DFE5F62A}" type="slidenum">
              <a:rPr b="0" lang="en-US" sz="900" spc="-1" strike="noStrike">
                <a:solidFill>
                  <a:schemeClr val="dk1"/>
                </a:solidFill>
                <a:latin typeface="Neue Haas Grotesk Text Pro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1371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887652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116323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/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BB66A5-4061-4E40-A050-A82ACAF105E3}" type="slidenum">
              <a:rPr b="0" lang="en-US" sz="900" spc="-1" strike="noStrike">
                <a:solidFill>
                  <a:schemeClr val="dk1"/>
                </a:solidFill>
                <a:latin typeface="Neue Haas Grotesk Text Pro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1371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887652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116323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/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FDDB41-AED6-494A-B8CC-B9C08F658E95}" type="slidenum">
              <a:rPr b="0" lang="en-US" sz="900" spc="-1" strike="noStrike">
                <a:solidFill>
                  <a:schemeClr val="dk1"/>
                </a:solidFill>
                <a:latin typeface="Neue Haas Grotesk Text Pro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1371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12720" y="1715400"/>
            <a:ext cx="10652760" cy="45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887652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116323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/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65C359B-0B50-454B-A397-1E53ABEAD525}" type="slidenum">
              <a:rPr b="0" lang="en-US" sz="900" spc="-1" strike="noStrike">
                <a:solidFill>
                  <a:schemeClr val="dk1"/>
                </a:solidFill>
                <a:latin typeface="Neue Haas Grotesk Text Pro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1371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887652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116323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/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D7FA78-144B-4A7C-B315-FC6D141465D5}" type="slidenum">
              <a:rPr b="0" lang="en-US" sz="900" spc="-1" strike="noStrike">
                <a:solidFill>
                  <a:schemeClr val="dk1"/>
                </a:solidFill>
                <a:latin typeface="Neue Haas Grotesk Text Pro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1371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12720" y="1715400"/>
            <a:ext cx="5198040" cy="45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71400" y="1715400"/>
            <a:ext cx="5198040" cy="45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887652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116323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/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C8694E-5EFB-47C7-9314-C93C205D9F64}" type="slidenum">
              <a:rPr b="0" lang="en-US" sz="900" spc="-1" strike="noStrike">
                <a:solidFill>
                  <a:schemeClr val="dk1"/>
                </a:solidFill>
                <a:latin typeface="Neue Haas Grotesk Text Pro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1371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887652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116323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/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F2A7AC-7C8F-4BAA-AA56-9C697B6A0653}" type="slidenum">
              <a:rPr b="0" lang="en-US" sz="900" spc="-1" strike="noStrike">
                <a:solidFill>
                  <a:schemeClr val="dk1"/>
                </a:solidFill>
                <a:latin typeface="Neue Haas Grotesk Text Pro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1371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887652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116323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/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60C3F6-9B0A-492C-8307-699CE898D595}" type="slidenum">
              <a:rPr b="0" lang="en-US" sz="900" spc="-1" strike="noStrike">
                <a:solidFill>
                  <a:schemeClr val="dk1"/>
                </a:solidFill>
                <a:latin typeface="Neue Haas Grotesk Text Pro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1371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887652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116323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/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970218-AA26-442A-831E-D14FD498BEE5}" type="slidenum">
              <a:rPr b="0" lang="en-US" sz="900" spc="-1" strike="noStrike">
                <a:solidFill>
                  <a:schemeClr val="dk1"/>
                </a:solidFill>
                <a:latin typeface="Neue Haas Grotesk Text Pro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1371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887652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116323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/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11929E-5403-4D48-A965-1AAF042AF945}" type="slidenum">
              <a:rPr b="0" lang="en-US" sz="900" spc="-1" strike="noStrike">
                <a:solidFill>
                  <a:schemeClr val="dk1"/>
                </a:solidFill>
                <a:latin typeface="Neue Haas Grotesk Text Pro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1371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887652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116323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/>
                </a:solidFill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BB175B-C569-4AF6-B8B9-BF9F1190C012}" type="slidenum">
              <a:rPr b="0" lang="en-US" sz="900" spc="-1" strike="noStrike">
                <a:solidFill>
                  <a:schemeClr val="dk1"/>
                </a:solidFill>
                <a:latin typeface="Neue Haas Grotesk Text Pro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1371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Neue Haas Grotesk Text Pro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69960" y="1174320"/>
            <a:ext cx="3508560" cy="278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400" spc="-1" strike="noStrike">
                <a:solidFill>
                  <a:schemeClr val="dk1"/>
                </a:solidFill>
                <a:latin typeface="Neue Haas Grotesk Text Pro"/>
              </a:rPr>
              <a:t>Alocação de Memória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69960" y="4062960"/>
            <a:ext cx="3508560" cy="139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First-fit, Next-fit, Best-fit e Worst-fit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Picture 3" descr=""/>
          <p:cNvPicPr/>
          <p:nvPr/>
        </p:nvPicPr>
        <p:blipFill>
          <a:blip r:embed="rId1"/>
          <a:srcRect l="10486" t="0" r="12700" b="0"/>
          <a:stretch/>
        </p:blipFill>
        <p:spPr>
          <a:xfrm>
            <a:off x="4824360" y="0"/>
            <a:ext cx="7367040" cy="6857280"/>
          </a:xfrm>
          <a:prstGeom prst="rect">
            <a:avLst/>
          </a:prstGeom>
          <a:ln w="0">
            <a:noFill/>
          </a:ln>
        </p:spPr>
      </p:pic>
      <p:sp>
        <p:nvSpPr>
          <p:cNvPr id="53" name="CaixaDeTexto 4"/>
          <p:cNvSpPr/>
          <p:nvPr/>
        </p:nvSpPr>
        <p:spPr>
          <a:xfrm>
            <a:off x="700560" y="5834880"/>
            <a:ext cx="2951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Otávio Garcia Capobianco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NUSP: 15482671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600" spc="-1" strike="noStrike">
                <a:solidFill>
                  <a:schemeClr val="dk1"/>
                </a:solidFill>
                <a:latin typeface="Neue Haas Grotesk Text Pro"/>
              </a:rPr>
              <a:t>Introdução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12720" y="1132200"/>
            <a:ext cx="10652760" cy="517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Neste EP, implementamos um simulador de algoritmos de alocação memória, em que arquivos .pgm são manipulados de modo que, a nível abstrato, representa alguns dos aspectos de como o sistema operacional gerencia a memória do computador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Os algoritmos escolhidos foram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First-fit, Next-fit, Best-fit e Worst-fit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Com nosso programa, partindo de um entendimento decente de como tais algoritmos funcionam, podemos realizar experimentos que revelem como essa base teórica se manifesta em situações mais práticas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Portanto, nesta apresentação abordaremos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pontos positivos e negativos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 de cada um desses algoritmos que são evidenciados por meio desses experimentos realizados, bem como discutir alguns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detalhes da implementação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 que permitam compreender os possíveis tradeoffs e recursos adicionais necessários para cada um deles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600" spc="-1" strike="noStrike">
                <a:solidFill>
                  <a:schemeClr val="dk1"/>
                </a:solidFill>
                <a:latin typeface="Neue Haas Grotesk Text Pro"/>
              </a:rPr>
              <a:t>Especificações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12720" y="1132200"/>
            <a:ext cx="10652760" cy="459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Os experimentos aqui detalhados foram realizados num computador com: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Processador</a:t>
            </a:r>
            <a:r>
              <a:rPr b="1" lang="pt-BR" sz="1800" spc="-1" strike="noStrike">
                <a:solidFill>
                  <a:schemeClr val="dk1"/>
                </a:solidFill>
                <a:latin typeface="Neue Haas Grotesk Text Pro"/>
              </a:rPr>
              <a:t> Intel Core i5-5350U </a:t>
            </a: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com 2 núcleos físicos e 4 núcleos lógicos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8GB de memória RAM DDR3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O programa supõe um sistema operacional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Linux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, e a distro utilizada durante a execução dos programas foi o Ubuntu (v24.04.2)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Todo o código do simulador implementado foi escrito em C, e os gráficos presentes nesta apresentação foram gerados em Python, utilizando Matplotlib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600" spc="-1" strike="noStrike">
                <a:solidFill>
                  <a:schemeClr val="dk1"/>
                </a:solidFill>
                <a:latin typeface="Neue Haas Grotesk Text Pro"/>
              </a:rPr>
              <a:t>Variáveis Auxiliares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12720" y="1114920"/>
            <a:ext cx="10652760" cy="536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33"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Dado que o programa simula situações de gerenciamento de memória, faz sentido ser cauteloso quanto ao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consumo de memória dos próprios algoritmos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Por isso, abordaremos as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variáveis adicionais 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que cada um necessitou para funcionar. As que todos eles precisaram utilizar foram: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Variáveis para calcular a posição correta do arquivo .pgm a ser lida/escrita, e buffer de leitura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Um inteiro para registrar o tamanho do atual bloco contínuo de unidades livres, e outro para marcar o início do mesmo (para sabermos quando há espaço suficiente)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Um inteiro i para iterar sobre todas as posições do .pgm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Fora essas, cada algoritmo precisou especificamente de: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1" lang="pt-BR" sz="1800" spc="-1" strike="noStrike">
                <a:solidFill>
                  <a:schemeClr val="dk1"/>
                </a:solidFill>
                <a:latin typeface="Neue Haas Grotesk Text Pro"/>
              </a:rPr>
              <a:t>First-fit</a:t>
            </a: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: </a:t>
            </a:r>
            <a:r>
              <a:rPr b="1" lang="pt-BR" sz="1800" spc="-1" strike="noStrike">
                <a:solidFill>
                  <a:schemeClr val="dk1"/>
                </a:solidFill>
                <a:latin typeface="Neue Haas Grotesk Text Pro"/>
              </a:rPr>
              <a:t>nada</a:t>
            </a: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 adicional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1" lang="pt-BR" sz="1800" spc="-1" strike="noStrike">
                <a:solidFill>
                  <a:schemeClr val="dk1"/>
                </a:solidFill>
                <a:latin typeface="Neue Haas Grotesk Text Pro"/>
              </a:rPr>
              <a:t>Next-fit</a:t>
            </a: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: inteiro que registra a </a:t>
            </a:r>
            <a:r>
              <a:rPr b="1" lang="pt-BR" sz="1800" spc="-1" strike="noStrike">
                <a:solidFill>
                  <a:schemeClr val="dk1"/>
                </a:solidFill>
                <a:latin typeface="Neue Haas Grotesk Text Pro"/>
              </a:rPr>
              <a:t>última unidade alocada pelo algoritmo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1" lang="pt-BR" sz="1800" spc="-1" strike="noStrike">
                <a:solidFill>
                  <a:schemeClr val="dk1"/>
                </a:solidFill>
                <a:latin typeface="Neue Haas Grotesk Text Pro"/>
              </a:rPr>
              <a:t>Best-fit e Worst-fit</a:t>
            </a: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: inteiro que registra o tamanho do </a:t>
            </a:r>
            <a:r>
              <a:rPr b="1" lang="pt-BR" sz="1800" spc="-1" strike="noStrike">
                <a:solidFill>
                  <a:schemeClr val="dk1"/>
                </a:solidFill>
                <a:latin typeface="Neue Haas Grotesk Text Pro"/>
              </a:rPr>
              <a:t>melhor bloco contínuo de unidades livres</a:t>
            </a: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 que satisfaça as unidades requisitadas (o menor no best, o maior no worst) e outro para marcar o início do mesmo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600" spc="-1" strike="noStrike">
                <a:solidFill>
                  <a:schemeClr val="dk1"/>
                </a:solidFill>
                <a:latin typeface="Neue Haas Grotesk Text Pro"/>
              </a:rPr>
              <a:t>Experimentos – Tempo de Execução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12720" y="1114920"/>
            <a:ext cx="10652760" cy="528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Avaliaremos os algoritmos em dois aspectos principais: tempo de execução e quantia de alocações não concretizadas (falhas)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O first-fit e o next-fit 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se destacam pela sua eficiência em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tempo de execução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, além de necessitarem de ligeiramente menos varáveis adicionais.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Isso pois o best-fit e o worst-fit necessariamente </a:t>
            </a:r>
            <a:r>
              <a:rPr b="1" lang="pt-BR" sz="1800" spc="-1" strike="noStrike">
                <a:solidFill>
                  <a:schemeClr val="dk1"/>
                </a:solidFill>
                <a:latin typeface="Neue Haas Grotesk Text Pro"/>
              </a:rPr>
              <a:t>varrem a memória inteira </a:t>
            </a: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em toda tentativa de alocação, o que é custoso. Os outros dois, embora no pior caso (sem espaço livre) necessitem percorrer toda a memória também, em média não precisam fazê-lo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O fator diferencial do next-fit, registrar a última posição alocada, tenta </a:t>
            </a:r>
            <a:r>
              <a:rPr b="1" lang="pt-BR" sz="1800" spc="-1" strike="noStrike">
                <a:solidFill>
                  <a:schemeClr val="dk1"/>
                </a:solidFill>
                <a:latin typeface="Neue Haas Grotesk Text Pro"/>
              </a:rPr>
              <a:t>evitar buscas desnecessárias que o first-fit tende a fazer</a:t>
            </a: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, e portanto esperamos que na maioria dos casos o next seja o mais rápido.  Um aspecto negativo dessa abordagem do next é que ele em geral fragmenta a memória em pontos distintos, distribuindo espaços que podem ser inúteis, enquanto que o first, por sempre tentar as posições iniciais, tende a concentrar a alocação, deixando a região ocupada mais densa (na parte inicial da memória) e portanto a livre menos fragmentada, o que muitas vezes reduz o número de falhas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600" spc="-1" strike="noStrike">
                <a:solidFill>
                  <a:schemeClr val="dk1"/>
                </a:solidFill>
                <a:latin typeface="Neue Haas Grotesk Text Pro"/>
              </a:rPr>
              <a:t>Experimentos – Falhas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12720" y="1114920"/>
            <a:ext cx="10652760" cy="528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7222"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O best-fit e o worst-fit 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se destacam por, em geral, serem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capazes de alocar mais memória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, por terem uma lógica um pouco mais complicada por trás de suas escolhas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Vale notar que, conhecendo a lógica por trás de cada um deles, é possível elaborar arquivos de trace que </a:t>
            </a:r>
            <a:r>
              <a:rPr b="1" lang="pt-BR" sz="1800" spc="-1" strike="noStrike">
                <a:solidFill>
                  <a:schemeClr val="dk1"/>
                </a:solidFill>
                <a:latin typeface="Neue Haas Grotesk Text Pro"/>
              </a:rPr>
              <a:t>favoreçam um em detrimento do outro</a:t>
            </a: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, dado que suas lógicas são, em grande parte, antagônicas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Neue Haas Grotesk Text Pro"/>
              </a:rPr>
              <a:t>Para o first/next-fit, embora, como já mencionado, ao longo de muitas entradas diferentes espera-se que o first resulte em menos falhas, provavelmente não haverá uma diferença significativa o suficiente com apenas 4 arquivos de trace para traçar conclusões definitivas. Ainda assim, esperamos mais falhas destes dois em comparação ao best/worst-fit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Tendo isso em mente, nos slides a seguir mostraremos os resultados de tempo e falhas dos experimentos realizados com cada arquivo de trace. Note que daremos mais ênfase à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comparação de tempo entre first e next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, nos seus respectivos trace, e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falhas entre best e worst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, mas mostraremos todos os dados obtidos para permitir uma noção mais ampla dos resultados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600" spc="-1" strike="noStrike">
                <a:solidFill>
                  <a:schemeClr val="dk1"/>
                </a:solidFill>
                <a:latin typeface="Neue Haas Grotesk Text Pro"/>
              </a:rPr>
              <a:t>Experimentos – Considerações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12720" y="1114920"/>
            <a:ext cx="10652760" cy="528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Todos os resultados expostos a seguir surgiram de execuções tomando como entrada o arquivo ep3-exemplo01.pgm, com os respectivos traces mencionados em cada slide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Durante as execuções do programa, apenas o terminal que o estava rodando e o próprio SO estavam ativos, para fins de reprodutibilidade e coerência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Como o programa é totalmente determinístico, existe pouca variação no tempo de execução, de modo que faz sentido omitir a variância e intervalo de confiança. Os valores apresentados nos gráficos de tempo de execução são as médias de 5 execuções distintas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600" spc="-1" strike="noStrike">
                <a:solidFill>
                  <a:schemeClr val="dk1"/>
                </a:solidFill>
                <a:latin typeface="Neue Haas Grotesk Text Pro"/>
              </a:rPr>
              <a:t>Trace First-Fit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12720" y="1114920"/>
            <a:ext cx="6388560" cy="528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8333" lnSpcReduction="10000"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Aqui, utilizamos um exemplo mais minimal, de modo que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não houve falha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 em nenhum dos algoritmos. Assim, best-fit e worst-fit foram praticamente idênticos em tempo de execução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Criamos situações em que o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next-fit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 precisou dar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quase uma volta completa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 muitas vezes, primeiro escolhendo um valor só disponível no fim do pgm, depois um pouco antes, e assim por diante. Enquanto o next dava voltas grandes, o espaço livre ficava cada vez mais próximo do first-fit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Escolher uma situação em que o first é mais rápido envolve, normalmente, casos mais específicos como este, e ainda assim houve um desempenho apenas 25% melhor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Imagem 4" descr=""/>
          <p:cNvPicPr/>
          <p:nvPr/>
        </p:nvPicPr>
        <p:blipFill>
          <a:blip r:embed="rId1"/>
          <a:stretch/>
        </p:blipFill>
        <p:spPr>
          <a:xfrm>
            <a:off x="7315200" y="548640"/>
            <a:ext cx="4263480" cy="3602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600" spc="-1" strike="noStrike">
                <a:solidFill>
                  <a:schemeClr val="dk1"/>
                </a:solidFill>
                <a:latin typeface="Neue Haas Grotesk Text Pro"/>
              </a:rPr>
              <a:t>Trace Next-fit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12720" y="1114920"/>
            <a:ext cx="6388560" cy="547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9999"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Este trace é maximal, requisitando toda a memória disponível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Para melhor desempenho do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next-fit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, garantimos que a primeira metade do trace, que possui as maiores requisições, poderia ser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concluída em uma única volta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 na memória pelo next. Para tal, sempre haviam espaços disponíveis sequencialmente, o que favorece o next e torna o first bem menos eficiente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O next-fit foi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72% mais rápido 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que o first-fit, mas este teve algumas falhas a menos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Em questão de falhas, o ponto inesperado é o baixo desempenho do worst. Isso ocorreu pois os maiores espaços foram ocupados muito rapidamente, gerando falhas na primeira metade do arquivo, de valores maiores que supunham espaço grande livre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Imagem 5" descr=""/>
          <p:cNvPicPr/>
          <p:nvPr/>
        </p:nvPicPr>
        <p:blipFill>
          <a:blip r:embed="rId1"/>
          <a:stretch/>
        </p:blipFill>
        <p:spPr>
          <a:xfrm>
            <a:off x="7697880" y="303840"/>
            <a:ext cx="3950280" cy="3266640"/>
          </a:xfrm>
          <a:prstGeom prst="rect">
            <a:avLst/>
          </a:prstGeom>
          <a:ln w="0">
            <a:noFill/>
          </a:ln>
        </p:spPr>
      </p:pic>
      <p:pic>
        <p:nvPicPr>
          <p:cNvPr id="72" name="Imagem 7" descr=""/>
          <p:cNvPicPr/>
          <p:nvPr/>
        </p:nvPicPr>
        <p:blipFill>
          <a:blip r:embed="rId2"/>
          <a:stretch/>
        </p:blipFill>
        <p:spPr>
          <a:xfrm>
            <a:off x="7697880" y="3513960"/>
            <a:ext cx="3950280" cy="33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600" spc="-1" strike="noStrike">
                <a:solidFill>
                  <a:schemeClr val="dk1"/>
                </a:solidFill>
                <a:latin typeface="Neue Haas Grotesk Text Pro"/>
              </a:rPr>
              <a:t>Trace Best-fit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12720" y="1114920"/>
            <a:ext cx="6388560" cy="547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Este trace faz requisições de todos os espaços livres, no valor total de cada espaço, na ordem crescente de tamanho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Essa abordagem garante que o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best-fit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 sempre escolha um espaço de modo que, após a alocação,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não sobre espaço livre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 nele. É o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cenário ideal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 suposto pela premissa do best-fit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A partir de uma certa linha do arquivo, o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worst-fit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 não conseguiu fazer mais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nenhuma alocação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, dado que sua premissa, de guardar espaço futuro para requisições pequenas/médias, é violada, tendo em vista que nunca haverá uma requisição menor do que a atual, apenas maiores ou iguais, para as quais já não haverá espaço disponível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Imagem 4" descr=""/>
          <p:cNvPicPr/>
          <p:nvPr/>
        </p:nvPicPr>
        <p:blipFill>
          <a:blip r:embed="rId1"/>
          <a:stretch/>
        </p:blipFill>
        <p:spPr>
          <a:xfrm>
            <a:off x="7697880" y="307800"/>
            <a:ext cx="3950280" cy="3249720"/>
          </a:xfrm>
          <a:prstGeom prst="rect">
            <a:avLst/>
          </a:prstGeom>
          <a:ln w="0">
            <a:noFill/>
          </a:ln>
        </p:spPr>
      </p:pic>
      <p:pic>
        <p:nvPicPr>
          <p:cNvPr id="76" name="Imagem 8" descr=""/>
          <p:cNvPicPr/>
          <p:nvPr/>
        </p:nvPicPr>
        <p:blipFill>
          <a:blip r:embed="rId2"/>
          <a:stretch/>
        </p:blipFill>
        <p:spPr>
          <a:xfrm>
            <a:off x="7697880" y="3429000"/>
            <a:ext cx="3950280" cy="339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600" spc="-1" strike="noStrike">
                <a:solidFill>
                  <a:schemeClr val="dk1"/>
                </a:solidFill>
                <a:latin typeface="Neue Haas Grotesk Text Pro"/>
              </a:rPr>
              <a:t>Trace Worst-fit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12720" y="1114920"/>
            <a:ext cx="6388560" cy="547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33" lnSpcReduction="10000"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Este trace tem uma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etapa inicial 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em que cria um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cenário ideal para o worst-fit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: algumas requisições menores são feitas, e logo em seguida pede-se um espaço grande que, somado a essas menores, totaliza o maior espaço da memória inicialmente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Ao mesmo tempo, pelo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best-fit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, essas requisições menores espalham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espaços livres pequenos demais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 pela memória. Ao fim do trace, tais espaços são requisitados, e enquanto o worst-fit os têm disponíveis, o best os fragmentou, e ocorre falha neste último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Logo, enquanto o worst-fit tem aqui em parte um cenário ideal, a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hipótese do best-fit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, de deixar grandes espaços para grandes requisições,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não é tão aproveitada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, e os espaços fragmentados fazem mais diferença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Imagem 5" descr=""/>
          <p:cNvPicPr/>
          <p:nvPr/>
        </p:nvPicPr>
        <p:blipFill>
          <a:blip r:embed="rId1"/>
          <a:stretch/>
        </p:blipFill>
        <p:spPr>
          <a:xfrm>
            <a:off x="7697880" y="322920"/>
            <a:ext cx="3950280" cy="3240000"/>
          </a:xfrm>
          <a:prstGeom prst="rect">
            <a:avLst/>
          </a:prstGeom>
          <a:ln w="0">
            <a:noFill/>
          </a:ln>
        </p:spPr>
      </p:pic>
      <p:pic>
        <p:nvPicPr>
          <p:cNvPr id="80" name="Imagem 7" descr=""/>
          <p:cNvPicPr/>
          <p:nvPr/>
        </p:nvPicPr>
        <p:blipFill>
          <a:blip r:embed="rId2"/>
          <a:stretch/>
        </p:blipFill>
        <p:spPr>
          <a:xfrm>
            <a:off x="7697880" y="3429000"/>
            <a:ext cx="3950280" cy="3340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600" spc="-1" strike="noStrike">
                <a:solidFill>
                  <a:schemeClr val="dk1"/>
                </a:solidFill>
                <a:latin typeface="Neue Haas Grotesk Text Pro"/>
              </a:rPr>
              <a:t>Conclusão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12720" y="1114920"/>
            <a:ext cx="10652760" cy="528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Pelos últimos slides, é visível que, conhecendo os algoritmos, podemos elaborar circunstâncias que configurem cenários ideais ou ruins, e em situações reais qualquer um dos dois pode acabar ocorrendo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Por conta disso,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nenhum dos algoritmos é universalmente melhor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, e é conveniente escolher aquele que,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em média, melhor atende o propósito da aplicação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, seja este o tempo de execução, quantidade de requisições atendidas, ou um meio termo entre os dois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Em grande parte, mesmo com uma quantidade baixa de arquivos de teste, pudemos observar uma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efetivação na prática do que prevíamos pela teoria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De modo geral, pelos testes apresentados e overheads discutidos para cada algoritmo, é possível ter uma noção bem estruturada sobre os </a:t>
            </a:r>
            <a:r>
              <a:rPr b="1" lang="pt-BR" sz="2000" spc="-1" strike="noStrike">
                <a:solidFill>
                  <a:schemeClr val="dk1"/>
                </a:solidFill>
                <a:latin typeface="Neue Haas Grotesk Text Pro"/>
              </a:rPr>
              <a:t>tradeoffs</a:t>
            </a:r>
            <a:r>
              <a:rPr b="0" lang="pt-BR" sz="2000" spc="-1" strike="noStrike">
                <a:solidFill>
                  <a:schemeClr val="dk1"/>
                </a:solidFill>
                <a:latin typeface="Neue Haas Grotesk Text Pro"/>
              </a:rPr>
              <a:t> que devem ser considerados, bem como algumas das razões que fazem com que estes ocorram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 pitchFamily="0" charset="1"/>
        <a:ea typeface=""/>
        <a:cs typeface=""/>
      </a:majorFont>
      <a:minorFont>
        <a:latin typeface="Neue Haas Grotesk Tex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 pitchFamily="0" charset="1"/>
        <a:ea typeface=""/>
        <a:cs typeface=""/>
      </a:majorFont>
      <a:minorFont>
        <a:latin typeface="Neue Haas Grotesk Tex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 pitchFamily="0" charset="1"/>
        <a:ea typeface=""/>
        <a:cs typeface=""/>
      </a:majorFont>
      <a:minorFont>
        <a:latin typeface="Neue Haas Grotesk Tex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 pitchFamily="0" charset="1"/>
        <a:ea typeface=""/>
        <a:cs typeface=""/>
      </a:majorFont>
      <a:minorFont>
        <a:latin typeface="Neue Haas Grotesk Tex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 pitchFamily="0" charset="1"/>
        <a:ea typeface=""/>
        <a:cs typeface=""/>
      </a:majorFont>
      <a:minorFont>
        <a:latin typeface="Neue Haas Grotesk Tex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 pitchFamily="0" charset="1"/>
        <a:ea typeface=""/>
        <a:cs typeface=""/>
      </a:majorFont>
      <a:minorFont>
        <a:latin typeface="Neue Haas Grotesk Tex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 pitchFamily="0" charset="1"/>
        <a:ea typeface=""/>
        <a:cs typeface=""/>
      </a:majorFont>
      <a:minorFont>
        <a:latin typeface="Neue Haas Grotesk Tex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 pitchFamily="0" charset="1"/>
        <a:ea typeface=""/>
        <a:cs typeface=""/>
      </a:majorFont>
      <a:minorFont>
        <a:latin typeface="Neue Haas Grotesk Tex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 pitchFamily="0" charset="1"/>
        <a:ea typeface=""/>
        <a:cs typeface=""/>
      </a:majorFont>
      <a:minorFont>
        <a:latin typeface="Neue Haas Grotesk Tex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 pitchFamily="0" charset="1"/>
        <a:ea typeface=""/>
        <a:cs typeface=""/>
      </a:majorFont>
      <a:minorFont>
        <a:latin typeface="Neue Haas Grotesk Tex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 pitchFamily="0" charset="1"/>
        <a:ea typeface=""/>
        <a:cs typeface=""/>
      </a:majorFont>
      <a:minorFont>
        <a:latin typeface="Neue Haas Grotesk Tex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841</TotalTime>
  <Application>LibreOffice/24.2.7.2$Linux_X86_64 LibreOffice_project/420$Build-2</Application>
  <AppVersion>15.0000</AppVersion>
  <Words>1435</Words>
  <Paragraphs>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2025-04-12T02:55:46Z</dcterms:created>
  <dc:creator>Rodrigo Julio Capobianco</dc:creator>
  <dc:description/>
  <dc:language>en-US</dc:language>
  <cp:lastModifiedBy/>
  <cp:lastPrinted>2025-06-01T15:36:35Z</cp:lastPrinted>
  <dcterms:modified xsi:type="dcterms:W3CDTF">2025-06-01T15:37:42Z</dcterms:modified>
  <cp:revision>84</cp:revision>
  <dc:subject/>
  <dc:title>Comparação entre Algoritmos de Escalonamento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