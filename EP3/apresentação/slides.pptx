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notesMasterIdLst>
    <p:notesMasterId r:id="rId8"/>
  </p:notesMasterIdLst>
  <p:sldIdLst>
    <p:sldId id="256" r:id="rId2"/>
    <p:sldId id="257" r:id="rId3"/>
    <p:sldId id="260" r:id="rId4"/>
    <p:sldId id="261" r:id="rId5"/>
    <p:sldId id="271" r:id="rId6"/>
    <p:sldId id="272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7"/>
    <p:restoredTop sz="94715"/>
  </p:normalViewPr>
  <p:slideViewPr>
    <p:cSldViewPr snapToGrid="0">
      <p:cViewPr>
        <p:scale>
          <a:sx n="130" d="100"/>
          <a:sy n="130" d="100"/>
        </p:scale>
        <p:origin x="360" y="-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B1DEBD-122D-9B4C-8A0B-868281EF4485}" type="datetimeFigureOut">
              <a:rPr lang="pt-BR" smtClean="0"/>
              <a:t>31/05/2025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6CD988-2269-BE48-B258-67387CA0D8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5852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197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4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59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0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5/31/25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2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5/31/25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330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5/31/25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527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1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560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2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602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18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797DE5A-DA89-0A80-C73D-8DCE1A3E2B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BA0014-A5CC-1470-2B23-7FB61215E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045" y="1174376"/>
            <a:ext cx="3509383" cy="2781752"/>
          </a:xfrm>
        </p:spPr>
        <p:txBody>
          <a:bodyPr>
            <a:normAutofit/>
          </a:bodyPr>
          <a:lstStyle/>
          <a:p>
            <a:pPr algn="l"/>
            <a:r>
              <a:rPr lang="pt-BR" sz="3400" dirty="0"/>
              <a:t>Alocação de Memória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8AAE961-F2BE-24A3-6B13-8A1EBB40F7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045" y="4062940"/>
            <a:ext cx="3509383" cy="1394913"/>
          </a:xfrm>
        </p:spPr>
        <p:txBody>
          <a:bodyPr>
            <a:normAutofit/>
          </a:bodyPr>
          <a:lstStyle/>
          <a:p>
            <a:pPr algn="l"/>
            <a:r>
              <a:rPr lang="pt-BR" dirty="0" err="1"/>
              <a:t>First-fit</a:t>
            </a:r>
            <a:r>
              <a:rPr lang="pt-BR" dirty="0"/>
              <a:t>, Next-</a:t>
            </a:r>
            <a:r>
              <a:rPr lang="pt-BR" dirty="0" err="1"/>
              <a:t>fit</a:t>
            </a:r>
            <a:r>
              <a:rPr lang="pt-BR" dirty="0"/>
              <a:t>, Best-</a:t>
            </a:r>
            <a:r>
              <a:rPr lang="pt-BR" dirty="0" err="1"/>
              <a:t>fit</a:t>
            </a:r>
            <a:r>
              <a:rPr lang="pt-BR" dirty="0"/>
              <a:t> e </a:t>
            </a:r>
            <a:r>
              <a:rPr lang="pt-BR" dirty="0" err="1"/>
              <a:t>Worst-fit</a:t>
            </a:r>
            <a:endParaRPr lang="pt-BR" dirty="0"/>
          </a:p>
          <a:p>
            <a:pPr algn="l"/>
            <a:endParaRPr lang="pt-BR" dirty="0"/>
          </a:p>
          <a:p>
            <a:pPr algn="l"/>
            <a:endParaRPr lang="pt-BR" dirty="0"/>
          </a:p>
        </p:txBody>
      </p:sp>
      <p:pic>
        <p:nvPicPr>
          <p:cNvPr id="23" name="Picture 3">
            <a:extLst>
              <a:ext uri="{FF2B5EF4-FFF2-40B4-BE49-F238E27FC236}">
                <a16:creationId xmlns:a16="http://schemas.microsoft.com/office/drawing/2014/main" id="{304B6BE4-62D1-C053-D6EB-1802F6291F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85" r="12701"/>
          <a:stretch/>
        </p:blipFill>
        <p:spPr>
          <a:xfrm>
            <a:off x="4824248" y="0"/>
            <a:ext cx="7367752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2FD0E31-A6B0-7BEF-1151-54D2FA4035A7}"/>
              </a:ext>
            </a:extLst>
          </p:cNvPr>
          <p:cNvSpPr txBox="1"/>
          <p:nvPr/>
        </p:nvSpPr>
        <p:spPr>
          <a:xfrm>
            <a:off x="670045" y="5834761"/>
            <a:ext cx="30135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Otávio Garcia </a:t>
            </a:r>
            <a:r>
              <a:rPr lang="pt-BR" dirty="0" err="1"/>
              <a:t>Capobianco</a:t>
            </a:r>
            <a:endParaRPr lang="pt-BR" dirty="0"/>
          </a:p>
          <a:p>
            <a:r>
              <a:rPr lang="pt-BR" dirty="0"/>
              <a:t>NUSP: 15482671</a:t>
            </a:r>
          </a:p>
        </p:txBody>
      </p:sp>
    </p:spTree>
    <p:extLst>
      <p:ext uri="{BB962C8B-B14F-4D97-AF65-F5344CB8AC3E}">
        <p14:creationId xmlns:p14="http://schemas.microsoft.com/office/powerpoint/2010/main" val="36772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5C1684-192E-5D29-FCEF-A98B7D9C9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FA386DC-417A-9A1D-FB74-EEB2FE50E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32086"/>
            <a:ext cx="10653579" cy="5177274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pt-BR" dirty="0"/>
              <a:t>Neste EP, implementamos um simulador de algoritmos de alocação memória, em que arquivos .</a:t>
            </a:r>
            <a:r>
              <a:rPr lang="pt-BR" dirty="0" err="1"/>
              <a:t>pgm</a:t>
            </a:r>
            <a:r>
              <a:rPr lang="pt-BR" dirty="0"/>
              <a:t> são manipulados de modo que, a nível abstrato, representa alguns dos aspectos de como o sistema operacional gerencia a memória do computador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Os algoritmos escolhidos foram </a:t>
            </a:r>
            <a:r>
              <a:rPr lang="pt-BR" b="1" dirty="0" err="1"/>
              <a:t>First-fit</a:t>
            </a:r>
            <a:r>
              <a:rPr lang="pt-BR" b="1" dirty="0"/>
              <a:t>, Next-</a:t>
            </a:r>
            <a:r>
              <a:rPr lang="pt-BR" b="1" dirty="0" err="1"/>
              <a:t>fit</a:t>
            </a:r>
            <a:r>
              <a:rPr lang="pt-BR" b="1" dirty="0"/>
              <a:t>, Best-</a:t>
            </a:r>
            <a:r>
              <a:rPr lang="pt-BR" b="1" dirty="0" err="1"/>
              <a:t>fit</a:t>
            </a:r>
            <a:r>
              <a:rPr lang="pt-BR" b="1" dirty="0"/>
              <a:t> e </a:t>
            </a:r>
            <a:r>
              <a:rPr lang="pt-BR" b="1" dirty="0" err="1"/>
              <a:t>Worst-fit</a:t>
            </a:r>
            <a:endParaRPr lang="pt-BR" b="1" dirty="0"/>
          </a:p>
          <a:p>
            <a:pPr>
              <a:buFont typeface="Wingdings" pitchFamily="2" charset="2"/>
              <a:buChar char="§"/>
            </a:pPr>
            <a:r>
              <a:rPr lang="pt-BR" dirty="0"/>
              <a:t>Com nosso programa, partindo de um entendimento decente de como tais algoritmos funcionam, podemos realizar experimentos que revelem como essa base teórica se manifesta em situações mais práticas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Portanto, nesta apresentação abordaremos </a:t>
            </a:r>
            <a:r>
              <a:rPr lang="pt-BR" b="1" dirty="0"/>
              <a:t>pontos positivos e negativos</a:t>
            </a:r>
            <a:r>
              <a:rPr lang="pt-BR" dirty="0"/>
              <a:t> de cada um desses algoritmos que são evidenciados por meio desses experimentos realizados, bem como discutir alguns </a:t>
            </a:r>
            <a:r>
              <a:rPr lang="pt-BR" b="1" dirty="0"/>
              <a:t>detalhes da implementação</a:t>
            </a:r>
            <a:r>
              <a:rPr lang="pt-BR" dirty="0"/>
              <a:t> que permitam compreender os possíveis </a:t>
            </a:r>
            <a:r>
              <a:rPr lang="pt-BR" dirty="0" err="1"/>
              <a:t>tradeoffs</a:t>
            </a:r>
            <a:r>
              <a:rPr lang="pt-BR" dirty="0"/>
              <a:t> e recursos adicionais necessários para cada um deles</a:t>
            </a:r>
          </a:p>
        </p:txBody>
      </p:sp>
    </p:spTree>
    <p:extLst>
      <p:ext uri="{BB962C8B-B14F-4D97-AF65-F5344CB8AC3E}">
        <p14:creationId xmlns:p14="http://schemas.microsoft.com/office/powerpoint/2010/main" val="1948790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15F37-A025-131B-09A4-1D55DE75C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0A705D-2521-1582-483F-880CA1BC4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32086"/>
            <a:ext cx="10653579" cy="4593828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Os experimentos aqui detalhados foram realizados num computador com:</a:t>
            </a:r>
          </a:p>
          <a:p>
            <a:pPr lvl="1"/>
            <a:r>
              <a:rPr lang="pt-BR" dirty="0"/>
              <a:t>Processador</a:t>
            </a:r>
            <a:r>
              <a:rPr lang="pt-BR" b="1" dirty="0"/>
              <a:t> Intel Core i5-5350U </a:t>
            </a:r>
            <a:r>
              <a:rPr lang="pt-BR" dirty="0"/>
              <a:t>com 2 núcleos físicos e 4 núcleos lógicos</a:t>
            </a:r>
          </a:p>
          <a:p>
            <a:pPr lvl="1"/>
            <a:r>
              <a:rPr lang="pt-BR" dirty="0"/>
              <a:t>8GB de memória RAM DDR3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O programa supõe um sistema operacional </a:t>
            </a:r>
            <a:r>
              <a:rPr lang="pt-BR" b="1" dirty="0"/>
              <a:t>Linux</a:t>
            </a:r>
            <a:r>
              <a:rPr lang="pt-BR" dirty="0"/>
              <a:t>, e a </a:t>
            </a:r>
            <a:r>
              <a:rPr lang="pt-BR" dirty="0" err="1"/>
              <a:t>distro</a:t>
            </a:r>
            <a:r>
              <a:rPr lang="pt-BR" dirty="0"/>
              <a:t> utilizada durante a execução dos programas foi o Ubuntu (v24.04.2)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Todo o código do simulador implementado foi escrito em C, e os gráficos presentes nesta apresentação foram gerados em Python, utilizando </a:t>
            </a:r>
            <a:r>
              <a:rPr lang="pt-BR" dirty="0" err="1"/>
              <a:t>Matplotlib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4878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412C00-DB83-7BA3-6C5E-D0E3D9668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 Auxiliares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48485-7F9C-A510-EA21-3DA1E6066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363221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Dado que o programa simula situações de gerenciamento de memória, faz sentido ser cauteloso quanto ao </a:t>
            </a:r>
            <a:r>
              <a:rPr lang="pt-BR" b="1" dirty="0"/>
              <a:t>consumo de memória dos próprios algoritmos</a:t>
            </a: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Por isso, abordaremos as </a:t>
            </a:r>
            <a:r>
              <a:rPr lang="pt-BR" b="1" dirty="0">
                <a:cs typeface="Consolas" panose="020B0609020204030204" pitchFamily="49" charset="0"/>
              </a:rPr>
              <a:t>variáveis adicionais </a:t>
            </a:r>
            <a:r>
              <a:rPr lang="pt-BR" dirty="0">
                <a:cs typeface="Consolas" panose="020B0609020204030204" pitchFamily="49" charset="0"/>
              </a:rPr>
              <a:t>que cada um necessitou para funcionar. As que todos eles precisaram utilizar foram:</a:t>
            </a:r>
          </a:p>
          <a:p>
            <a:pPr lvl="1"/>
            <a:r>
              <a:rPr lang="pt-BR" dirty="0">
                <a:cs typeface="Consolas" panose="020B0609020204030204" pitchFamily="49" charset="0"/>
              </a:rPr>
              <a:t>Variáveis para calcular a posição correta do arquivo .</a:t>
            </a:r>
            <a:r>
              <a:rPr lang="pt-BR" dirty="0" err="1">
                <a:cs typeface="Consolas" panose="020B0609020204030204" pitchFamily="49" charset="0"/>
              </a:rPr>
              <a:t>pgm</a:t>
            </a:r>
            <a:r>
              <a:rPr lang="pt-BR" dirty="0">
                <a:cs typeface="Consolas" panose="020B0609020204030204" pitchFamily="49" charset="0"/>
              </a:rPr>
              <a:t> a ser lida/escrita, e buffer de leitura</a:t>
            </a:r>
          </a:p>
          <a:p>
            <a:pPr lvl="1"/>
            <a:r>
              <a:rPr lang="pt-BR" dirty="0">
                <a:cs typeface="Consolas" panose="020B0609020204030204" pitchFamily="49" charset="0"/>
              </a:rPr>
              <a:t>Um inteiro para registrar o tamanho do atual bloco contínuo de unidades livres, e outro para marcar o início do mesmo (para sabermos quando há espaço suficiente)</a:t>
            </a:r>
          </a:p>
          <a:p>
            <a:pPr lvl="1"/>
            <a:r>
              <a:rPr lang="pt-BR" dirty="0">
                <a:cs typeface="Consolas" panose="020B0609020204030204" pitchFamily="49" charset="0"/>
              </a:rPr>
              <a:t>Um inteiro </a:t>
            </a:r>
            <a:r>
              <a:rPr lang="pt-BR" dirty="0" err="1">
                <a:cs typeface="Consolas" panose="020B0609020204030204" pitchFamily="49" charset="0"/>
              </a:rPr>
              <a:t>i</a:t>
            </a:r>
            <a:r>
              <a:rPr lang="pt-BR" dirty="0">
                <a:cs typeface="Consolas" panose="020B0609020204030204" pitchFamily="49" charset="0"/>
              </a:rPr>
              <a:t> para iterar sobre todas as posições do .</a:t>
            </a:r>
            <a:r>
              <a:rPr lang="pt-BR" dirty="0" err="1">
                <a:cs typeface="Consolas" panose="020B0609020204030204" pitchFamily="49" charset="0"/>
              </a:rPr>
              <a:t>pgm</a:t>
            </a:r>
            <a:endParaRPr lang="pt-BR" dirty="0">
              <a:cs typeface="Consolas" panose="020B0609020204030204" pitchFamily="49" charset="0"/>
            </a:endParaRP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Fora essas, cada algoritmo precisou especificamente de:</a:t>
            </a:r>
          </a:p>
          <a:p>
            <a:pPr lvl="1"/>
            <a:r>
              <a:rPr lang="pt-BR" b="1" dirty="0" err="1">
                <a:cs typeface="Consolas" panose="020B0609020204030204" pitchFamily="49" charset="0"/>
              </a:rPr>
              <a:t>First-fit</a:t>
            </a:r>
            <a:r>
              <a:rPr lang="pt-BR" dirty="0">
                <a:cs typeface="Consolas" panose="020B0609020204030204" pitchFamily="49" charset="0"/>
              </a:rPr>
              <a:t>: </a:t>
            </a:r>
            <a:r>
              <a:rPr lang="pt-BR" b="1" dirty="0">
                <a:cs typeface="Consolas" panose="020B0609020204030204" pitchFamily="49" charset="0"/>
              </a:rPr>
              <a:t>nada</a:t>
            </a:r>
            <a:r>
              <a:rPr lang="pt-BR" dirty="0">
                <a:cs typeface="Consolas" panose="020B0609020204030204" pitchFamily="49" charset="0"/>
              </a:rPr>
              <a:t> adicional</a:t>
            </a:r>
          </a:p>
          <a:p>
            <a:pPr lvl="1"/>
            <a:r>
              <a:rPr lang="pt-BR" b="1" dirty="0">
                <a:cs typeface="Consolas" panose="020B0609020204030204" pitchFamily="49" charset="0"/>
              </a:rPr>
              <a:t>Next-</a:t>
            </a:r>
            <a:r>
              <a:rPr lang="pt-BR" b="1" dirty="0" err="1">
                <a:cs typeface="Consolas" panose="020B0609020204030204" pitchFamily="49" charset="0"/>
              </a:rPr>
              <a:t>fit</a:t>
            </a:r>
            <a:r>
              <a:rPr lang="pt-BR" dirty="0">
                <a:cs typeface="Consolas" panose="020B0609020204030204" pitchFamily="49" charset="0"/>
              </a:rPr>
              <a:t>: inteiro que registra a </a:t>
            </a:r>
            <a:r>
              <a:rPr lang="pt-BR" b="1" dirty="0">
                <a:cs typeface="Consolas" panose="020B0609020204030204" pitchFamily="49" charset="0"/>
              </a:rPr>
              <a:t>última unidade alocada pelo algoritmo</a:t>
            </a:r>
          </a:p>
          <a:p>
            <a:pPr lvl="1"/>
            <a:r>
              <a:rPr lang="pt-BR" b="1" dirty="0">
                <a:cs typeface="Consolas" panose="020B0609020204030204" pitchFamily="49" charset="0"/>
              </a:rPr>
              <a:t>Best-</a:t>
            </a:r>
            <a:r>
              <a:rPr lang="pt-BR" b="1" dirty="0" err="1">
                <a:cs typeface="Consolas" panose="020B0609020204030204" pitchFamily="49" charset="0"/>
              </a:rPr>
              <a:t>fit</a:t>
            </a:r>
            <a:r>
              <a:rPr lang="pt-BR" b="1" dirty="0">
                <a:cs typeface="Consolas" panose="020B0609020204030204" pitchFamily="49" charset="0"/>
              </a:rPr>
              <a:t> e </a:t>
            </a:r>
            <a:r>
              <a:rPr lang="pt-BR" b="1" dirty="0" err="1">
                <a:cs typeface="Consolas" panose="020B0609020204030204" pitchFamily="49" charset="0"/>
              </a:rPr>
              <a:t>Worst-fit</a:t>
            </a:r>
            <a:r>
              <a:rPr lang="pt-BR" dirty="0">
                <a:cs typeface="Consolas" panose="020B0609020204030204" pitchFamily="49" charset="0"/>
              </a:rPr>
              <a:t>: inteiro que registra o tamanho do </a:t>
            </a:r>
            <a:r>
              <a:rPr lang="pt-BR" b="1" dirty="0">
                <a:cs typeface="Consolas" panose="020B0609020204030204" pitchFamily="49" charset="0"/>
              </a:rPr>
              <a:t>melhor bloco contínuo de unidades livres</a:t>
            </a:r>
            <a:r>
              <a:rPr lang="pt-BR" dirty="0">
                <a:cs typeface="Consolas" panose="020B0609020204030204" pitchFamily="49" charset="0"/>
              </a:rPr>
              <a:t> que satisfaça as unidades requisitadas (o menor no </a:t>
            </a:r>
            <a:r>
              <a:rPr lang="pt-BR" dirty="0" err="1">
                <a:cs typeface="Consolas" panose="020B0609020204030204" pitchFamily="49" charset="0"/>
              </a:rPr>
              <a:t>best</a:t>
            </a:r>
            <a:r>
              <a:rPr lang="pt-BR" dirty="0">
                <a:cs typeface="Consolas" panose="020B0609020204030204" pitchFamily="49" charset="0"/>
              </a:rPr>
              <a:t>, o maior no </a:t>
            </a:r>
            <a:r>
              <a:rPr lang="pt-BR" dirty="0" err="1">
                <a:cs typeface="Consolas" panose="020B0609020204030204" pitchFamily="49" charset="0"/>
              </a:rPr>
              <a:t>worst</a:t>
            </a:r>
            <a:r>
              <a:rPr lang="pt-BR" dirty="0">
                <a:cs typeface="Consolas" panose="020B0609020204030204" pitchFamily="49" charset="0"/>
              </a:rPr>
              <a:t>) e outro para marcar o início do mesmo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6132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Tempo de Execução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286032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Avaliaremos os algoritmos em dois aspectos principais: tempo de execução e quantia de alocações não concretizadas (falhas)</a:t>
            </a:r>
          </a:p>
          <a:p>
            <a:pPr>
              <a:buFont typeface="Wingdings" pitchFamily="2" charset="2"/>
              <a:buChar char="§"/>
            </a:pPr>
            <a:r>
              <a:rPr lang="pt-BR" b="1" dirty="0"/>
              <a:t>O </a:t>
            </a:r>
            <a:r>
              <a:rPr lang="pt-BR" b="1" dirty="0" err="1"/>
              <a:t>first-fit</a:t>
            </a:r>
            <a:r>
              <a:rPr lang="pt-BR" b="1" dirty="0"/>
              <a:t> e o </a:t>
            </a:r>
            <a:r>
              <a:rPr lang="pt-BR" b="1" dirty="0" err="1"/>
              <a:t>next-fit</a:t>
            </a:r>
            <a:r>
              <a:rPr lang="pt-BR" b="1" dirty="0"/>
              <a:t> </a:t>
            </a:r>
            <a:r>
              <a:rPr lang="pt-BR" dirty="0"/>
              <a:t>se destacam pela sua eficiência em </a:t>
            </a:r>
            <a:r>
              <a:rPr lang="pt-BR" b="1" dirty="0"/>
              <a:t>tempo de execução</a:t>
            </a:r>
            <a:r>
              <a:rPr lang="pt-BR" dirty="0"/>
              <a:t>, além de necessitarem de ligeiramente menos varáveis adicionais. </a:t>
            </a:r>
          </a:p>
          <a:p>
            <a:pPr lvl="1"/>
            <a:r>
              <a:rPr lang="pt-BR" dirty="0"/>
              <a:t>Isso pois o </a:t>
            </a:r>
            <a:r>
              <a:rPr lang="pt-BR" dirty="0" err="1"/>
              <a:t>best-fit</a:t>
            </a:r>
            <a:r>
              <a:rPr lang="pt-BR" dirty="0"/>
              <a:t> e o </a:t>
            </a:r>
            <a:r>
              <a:rPr lang="pt-BR" dirty="0" err="1"/>
              <a:t>worst-fit</a:t>
            </a:r>
            <a:r>
              <a:rPr lang="pt-BR" dirty="0"/>
              <a:t> necessariamente </a:t>
            </a:r>
            <a:r>
              <a:rPr lang="pt-BR" b="1" dirty="0"/>
              <a:t>varrem a memória inteira </a:t>
            </a:r>
            <a:r>
              <a:rPr lang="pt-BR" dirty="0"/>
              <a:t>em toda tentativa de alocação, o que é custoso. Os outros dois, embora no pior caso (sem espaço livre) necessitem percorrer toda a memória também, em média não precisam fazê-lo</a:t>
            </a:r>
          </a:p>
          <a:p>
            <a:pPr lvl="1"/>
            <a:r>
              <a:rPr lang="pt-BR" dirty="0"/>
              <a:t>O fator diferencial do </a:t>
            </a:r>
            <a:r>
              <a:rPr lang="pt-BR" dirty="0" err="1"/>
              <a:t>next-fit</a:t>
            </a:r>
            <a:r>
              <a:rPr lang="pt-BR" dirty="0"/>
              <a:t>, registrar a última posição alocada, tenta </a:t>
            </a:r>
            <a:r>
              <a:rPr lang="pt-BR" b="1" dirty="0"/>
              <a:t>evitar buscas desnecessárias que o </a:t>
            </a:r>
            <a:r>
              <a:rPr lang="pt-BR" b="1" dirty="0" err="1"/>
              <a:t>first-fit</a:t>
            </a:r>
            <a:r>
              <a:rPr lang="pt-BR" b="1" dirty="0"/>
              <a:t> tende a fazer</a:t>
            </a:r>
            <a:r>
              <a:rPr lang="pt-BR" dirty="0"/>
              <a:t>, e portanto esperamos que na maioria dos casos o </a:t>
            </a:r>
            <a:r>
              <a:rPr lang="pt-BR" dirty="0" err="1"/>
              <a:t>next</a:t>
            </a:r>
            <a:r>
              <a:rPr lang="pt-BR" dirty="0"/>
              <a:t> seja o mais rápido.  Um aspecto negativo dessa abordagem do </a:t>
            </a:r>
            <a:r>
              <a:rPr lang="pt-BR" dirty="0" err="1"/>
              <a:t>next</a:t>
            </a:r>
            <a:r>
              <a:rPr lang="pt-BR" dirty="0"/>
              <a:t> é que ele em geral fragmenta a memória em pontos distintos, distribuindo espaços que podem ser inúteis, enquanto que o </a:t>
            </a:r>
            <a:r>
              <a:rPr lang="pt-BR" dirty="0" err="1"/>
              <a:t>first</a:t>
            </a:r>
            <a:r>
              <a:rPr lang="pt-BR" dirty="0"/>
              <a:t>, por sempre tentar as posições iniciais, tende a concentrar a alocação, deixando a região ocupada mais densa (na parte inicial da memória) e portanto a livre menos fragmentada, o que muitas vezes reduz o número de falhas</a:t>
            </a:r>
          </a:p>
        </p:txBody>
      </p:sp>
    </p:spTree>
    <p:extLst>
      <p:ext uri="{BB962C8B-B14F-4D97-AF65-F5344CB8AC3E}">
        <p14:creationId xmlns:p14="http://schemas.microsoft.com/office/powerpoint/2010/main" val="2870233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Falhas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286032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b="1" dirty="0"/>
              <a:t>O </a:t>
            </a:r>
            <a:r>
              <a:rPr lang="pt-BR" b="1" dirty="0" err="1"/>
              <a:t>best-fit</a:t>
            </a:r>
            <a:r>
              <a:rPr lang="pt-BR" b="1" dirty="0"/>
              <a:t> e o </a:t>
            </a:r>
            <a:r>
              <a:rPr lang="pt-BR" b="1" dirty="0" err="1"/>
              <a:t>worst-fit</a:t>
            </a:r>
            <a:r>
              <a:rPr lang="pt-BR" b="1" dirty="0"/>
              <a:t> </a:t>
            </a:r>
            <a:r>
              <a:rPr lang="pt-BR" dirty="0"/>
              <a:t>se destacam por, em geral, serem </a:t>
            </a:r>
            <a:r>
              <a:rPr lang="pt-BR" b="1" dirty="0"/>
              <a:t>capazes de alocar mais memória</a:t>
            </a:r>
            <a:r>
              <a:rPr lang="pt-BR" dirty="0"/>
              <a:t>, por terem uma lógica um pouco mais complicada por trás de suas escolhas</a:t>
            </a:r>
          </a:p>
          <a:p>
            <a:pPr lvl="1"/>
            <a:r>
              <a:rPr lang="pt-BR" dirty="0"/>
              <a:t>Vale notar que, conhecendo a lógica por trás de cada um deles, é possível elaborar arquivos de trace que </a:t>
            </a:r>
            <a:r>
              <a:rPr lang="pt-BR" b="1" dirty="0"/>
              <a:t>favoreçam um em detrimento do outro</a:t>
            </a:r>
            <a:r>
              <a:rPr lang="pt-BR" dirty="0"/>
              <a:t>, dado que suas lógicas são, em grande parte, antagônicas</a:t>
            </a:r>
          </a:p>
          <a:p>
            <a:pPr lvl="1"/>
            <a:r>
              <a:rPr lang="pt-BR" dirty="0"/>
              <a:t>Para o </a:t>
            </a:r>
            <a:r>
              <a:rPr lang="pt-BR" dirty="0" err="1"/>
              <a:t>first</a:t>
            </a:r>
            <a:r>
              <a:rPr lang="pt-BR" dirty="0"/>
              <a:t>/</a:t>
            </a:r>
            <a:r>
              <a:rPr lang="pt-BR" dirty="0" err="1"/>
              <a:t>next-fit</a:t>
            </a:r>
            <a:r>
              <a:rPr lang="pt-BR" dirty="0"/>
              <a:t>, embora, como já mencionado, ao longo de muitas entradas diferentes espera-se que o </a:t>
            </a:r>
            <a:r>
              <a:rPr lang="pt-BR" dirty="0" err="1"/>
              <a:t>first</a:t>
            </a:r>
            <a:r>
              <a:rPr lang="pt-BR" dirty="0"/>
              <a:t> resulte em menos falhas, provavelmente não haverá uma diferença significativa o suficiente com apenas 4 arquivos de trace para traçar conclusões definitivas. Ainda assim, esperamos mais falhas destes dois em comparação ao </a:t>
            </a:r>
            <a:r>
              <a:rPr lang="pt-BR" dirty="0" err="1"/>
              <a:t>best</a:t>
            </a:r>
            <a:r>
              <a:rPr lang="pt-BR" dirty="0"/>
              <a:t>/</a:t>
            </a:r>
            <a:r>
              <a:rPr lang="pt-BR" dirty="0" err="1"/>
              <a:t>worst-fit</a:t>
            </a:r>
            <a:endParaRPr lang="pt-BR" dirty="0"/>
          </a:p>
          <a:p>
            <a:pPr>
              <a:buFont typeface="Wingdings" pitchFamily="2" charset="2"/>
              <a:buChar char="§"/>
            </a:pPr>
            <a:r>
              <a:rPr lang="pt-BR" dirty="0"/>
              <a:t>Tendo isso em mente, nos slides a seguir mostraremos os resultados de tempo e falhas dos experimentos realizados com cada arquivo de trace. Note que daremos mais ênfase à comparação de tempo entre </a:t>
            </a:r>
            <a:r>
              <a:rPr lang="pt-BR" dirty="0" err="1"/>
              <a:t>first</a:t>
            </a:r>
            <a:r>
              <a:rPr lang="pt-BR" dirty="0"/>
              <a:t> e </a:t>
            </a:r>
            <a:r>
              <a:rPr lang="pt-BR" dirty="0" err="1"/>
              <a:t>next</a:t>
            </a:r>
            <a:r>
              <a:rPr lang="pt-BR" dirty="0"/>
              <a:t>, nos seus respectivos trace, e falhas entre </a:t>
            </a:r>
            <a:r>
              <a:rPr lang="pt-BR" dirty="0" err="1"/>
              <a:t>best</a:t>
            </a:r>
            <a:r>
              <a:rPr lang="pt-BR" dirty="0"/>
              <a:t> e </a:t>
            </a:r>
            <a:r>
              <a:rPr lang="pt-BR" dirty="0" err="1"/>
              <a:t>worst</a:t>
            </a:r>
            <a:r>
              <a:rPr lang="pt-BR" dirty="0"/>
              <a:t>, mas mostraremos todos os dados obtidos para permitir uma noção mais ampla dos resultados</a:t>
            </a:r>
          </a:p>
        </p:txBody>
      </p:sp>
    </p:spTree>
    <p:extLst>
      <p:ext uri="{BB962C8B-B14F-4D97-AF65-F5344CB8AC3E}">
        <p14:creationId xmlns:p14="http://schemas.microsoft.com/office/powerpoint/2010/main" val="2187980867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746</TotalTime>
  <Words>798</Words>
  <Application>Microsoft Macintosh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1" baseType="lpstr">
      <vt:lpstr>Arial</vt:lpstr>
      <vt:lpstr>Calibri</vt:lpstr>
      <vt:lpstr>Neue Haas Grotesk Text Pro</vt:lpstr>
      <vt:lpstr>Wingdings</vt:lpstr>
      <vt:lpstr>VanillaVTI</vt:lpstr>
      <vt:lpstr>Alocação de Memória</vt:lpstr>
      <vt:lpstr>Introdução</vt:lpstr>
      <vt:lpstr>Especificações</vt:lpstr>
      <vt:lpstr>Variáveis Auxiliares</vt:lpstr>
      <vt:lpstr>Experimentos – Tempo de Execução</vt:lpstr>
      <vt:lpstr>Experimentos – Falhas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Comparação entre Algoritmos de Escalonamento</dc:title>
  <dc:creator>Rodrigo Julio Capobianco</dc:creator>
  <cp:lastModifiedBy>Rodrigo Julio Capobianco</cp:lastModifiedBy>
  <cp:revision>64</cp:revision>
  <dcterms:created xsi:type="dcterms:W3CDTF">2025-04-12T02:55:46Z</dcterms:created>
  <dcterms:modified xsi:type="dcterms:W3CDTF">2025-06-01T04:04:56Z</dcterms:modified>
</cp:coreProperties>
</file>