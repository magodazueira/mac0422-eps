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notesMasterIdLst>
    <p:notesMasterId r:id="rId13"/>
  </p:notesMasterIdLst>
  <p:sldIdLst>
    <p:sldId id="256" r:id="rId2"/>
    <p:sldId id="257" r:id="rId3"/>
    <p:sldId id="260" r:id="rId4"/>
    <p:sldId id="261" r:id="rId5"/>
    <p:sldId id="271" r:id="rId6"/>
    <p:sldId id="272" r:id="rId7"/>
    <p:sldId id="274" r:id="rId8"/>
    <p:sldId id="275" r:id="rId9"/>
    <p:sldId id="276" r:id="rId10"/>
    <p:sldId id="277" r:id="rId11"/>
    <p:sldId id="278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17"/>
    <p:restoredTop sz="94715"/>
  </p:normalViewPr>
  <p:slideViewPr>
    <p:cSldViewPr snapToGrid="0">
      <p:cViewPr varScale="1">
        <p:scale>
          <a:sx n="122" d="100"/>
          <a:sy n="122" d="100"/>
        </p:scale>
        <p:origin x="6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B1DEBD-122D-9B4C-8A0B-868281EF4485}" type="datetimeFigureOut">
              <a:rPr lang="pt-BR" smtClean="0"/>
              <a:t>01/06/2025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6CD988-2269-BE48-B258-67387CA0D8B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5852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6/1/25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197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6/1/25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94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6/1/25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59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6/1/25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04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6/1/25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2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6/1/25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330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6/1/25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527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6/1/25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1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6/1/25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560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6/1/25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2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6/1/25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602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6/1/25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918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797DE5A-DA89-0A80-C73D-8DCE1A3E2B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9BA0014-A5CC-1470-2B23-7FB61215EF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045" y="1174376"/>
            <a:ext cx="3509383" cy="2781752"/>
          </a:xfrm>
        </p:spPr>
        <p:txBody>
          <a:bodyPr>
            <a:normAutofit/>
          </a:bodyPr>
          <a:lstStyle/>
          <a:p>
            <a:pPr algn="l"/>
            <a:r>
              <a:rPr lang="pt-BR" sz="3400" dirty="0"/>
              <a:t>Alocação de Memória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8AAE961-F2BE-24A3-6B13-8A1EBB40F7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045" y="4062940"/>
            <a:ext cx="3509383" cy="1394913"/>
          </a:xfrm>
        </p:spPr>
        <p:txBody>
          <a:bodyPr>
            <a:normAutofit/>
          </a:bodyPr>
          <a:lstStyle/>
          <a:p>
            <a:pPr algn="l"/>
            <a:r>
              <a:rPr lang="pt-BR" dirty="0" err="1"/>
              <a:t>First-fit</a:t>
            </a:r>
            <a:r>
              <a:rPr lang="pt-BR" dirty="0"/>
              <a:t>, Next-</a:t>
            </a:r>
            <a:r>
              <a:rPr lang="pt-BR" dirty="0" err="1"/>
              <a:t>fit</a:t>
            </a:r>
            <a:r>
              <a:rPr lang="pt-BR" dirty="0"/>
              <a:t>, Best-</a:t>
            </a:r>
            <a:r>
              <a:rPr lang="pt-BR" dirty="0" err="1"/>
              <a:t>fit</a:t>
            </a:r>
            <a:r>
              <a:rPr lang="pt-BR" dirty="0"/>
              <a:t> e </a:t>
            </a:r>
            <a:r>
              <a:rPr lang="pt-BR" dirty="0" err="1"/>
              <a:t>Worst-fit</a:t>
            </a:r>
            <a:endParaRPr lang="pt-BR" dirty="0"/>
          </a:p>
          <a:p>
            <a:pPr algn="l"/>
            <a:endParaRPr lang="pt-BR" dirty="0"/>
          </a:p>
          <a:p>
            <a:pPr algn="l"/>
            <a:endParaRPr lang="pt-BR" dirty="0"/>
          </a:p>
        </p:txBody>
      </p:sp>
      <p:pic>
        <p:nvPicPr>
          <p:cNvPr id="23" name="Picture 3">
            <a:extLst>
              <a:ext uri="{FF2B5EF4-FFF2-40B4-BE49-F238E27FC236}">
                <a16:creationId xmlns:a16="http://schemas.microsoft.com/office/drawing/2014/main" id="{304B6BE4-62D1-C053-D6EB-1802F6291F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85" r="12701"/>
          <a:stretch/>
        </p:blipFill>
        <p:spPr>
          <a:xfrm>
            <a:off x="4824248" y="0"/>
            <a:ext cx="7367752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2FD0E31-A6B0-7BEF-1151-54D2FA4035A7}"/>
              </a:ext>
            </a:extLst>
          </p:cNvPr>
          <p:cNvSpPr txBox="1"/>
          <p:nvPr/>
        </p:nvSpPr>
        <p:spPr>
          <a:xfrm>
            <a:off x="670045" y="5834761"/>
            <a:ext cx="30135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Otávio Garcia </a:t>
            </a:r>
            <a:r>
              <a:rPr lang="pt-BR" dirty="0" err="1"/>
              <a:t>Capobianco</a:t>
            </a:r>
            <a:endParaRPr lang="pt-BR" dirty="0"/>
          </a:p>
          <a:p>
            <a:r>
              <a:rPr lang="pt-BR" dirty="0"/>
              <a:t>NUSP: 15482671</a:t>
            </a:r>
          </a:p>
        </p:txBody>
      </p:sp>
    </p:spTree>
    <p:extLst>
      <p:ext uri="{BB962C8B-B14F-4D97-AF65-F5344CB8AC3E}">
        <p14:creationId xmlns:p14="http://schemas.microsoft.com/office/powerpoint/2010/main" val="367726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5C1684-192E-5D29-FCEF-A98B7D9C9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FA386DC-417A-9A1D-FB74-EEB2FE50E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32086"/>
            <a:ext cx="10653579" cy="5177274"/>
          </a:xfrm>
        </p:spPr>
        <p:txBody>
          <a:bodyPr/>
          <a:lstStyle/>
          <a:p>
            <a:pPr>
              <a:buFont typeface="Wingdings" pitchFamily="2" charset="2"/>
              <a:buChar char="§"/>
            </a:pPr>
            <a:r>
              <a:rPr lang="pt-BR" dirty="0"/>
              <a:t>Neste EP, implementamos um simulador de algoritmos de alocação memória, em que arquivos .</a:t>
            </a:r>
            <a:r>
              <a:rPr lang="pt-BR" dirty="0" err="1"/>
              <a:t>pgm</a:t>
            </a:r>
            <a:r>
              <a:rPr lang="pt-BR" dirty="0"/>
              <a:t> são manipulados de modo que, a nível abstrato, representa alguns dos aspectos de como o sistema operacional gerencia a memória do computador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Os algoritmos escolhidos foram </a:t>
            </a:r>
            <a:r>
              <a:rPr lang="pt-BR" b="1" dirty="0" err="1"/>
              <a:t>First-fit</a:t>
            </a:r>
            <a:r>
              <a:rPr lang="pt-BR" b="1" dirty="0"/>
              <a:t>, Next-</a:t>
            </a:r>
            <a:r>
              <a:rPr lang="pt-BR" b="1" dirty="0" err="1"/>
              <a:t>fit</a:t>
            </a:r>
            <a:r>
              <a:rPr lang="pt-BR" b="1" dirty="0"/>
              <a:t>, Best-</a:t>
            </a:r>
            <a:r>
              <a:rPr lang="pt-BR" b="1" dirty="0" err="1"/>
              <a:t>fit</a:t>
            </a:r>
            <a:r>
              <a:rPr lang="pt-BR" b="1" dirty="0"/>
              <a:t> e </a:t>
            </a:r>
            <a:r>
              <a:rPr lang="pt-BR" b="1" dirty="0" err="1"/>
              <a:t>Worst-fit</a:t>
            </a:r>
            <a:endParaRPr lang="pt-BR" b="1" dirty="0"/>
          </a:p>
          <a:p>
            <a:pPr>
              <a:buFont typeface="Wingdings" pitchFamily="2" charset="2"/>
              <a:buChar char="§"/>
            </a:pPr>
            <a:r>
              <a:rPr lang="pt-BR" dirty="0"/>
              <a:t>Com nosso programa, partindo de um entendimento decente de como tais algoritmos funcionam, podemos realizar experimentos que revelem como essa base teórica se manifesta em situações mais práticas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Portanto, nesta apresentação abordaremos </a:t>
            </a:r>
            <a:r>
              <a:rPr lang="pt-BR" b="1" dirty="0"/>
              <a:t>pontos positivos e negativos</a:t>
            </a:r>
            <a:r>
              <a:rPr lang="pt-BR" dirty="0"/>
              <a:t> de cada um desses algoritmos que são evidenciados por meio desses experimentos realizados, bem como discutir alguns </a:t>
            </a:r>
            <a:r>
              <a:rPr lang="pt-BR" b="1" dirty="0"/>
              <a:t>detalhes da implementação</a:t>
            </a:r>
            <a:r>
              <a:rPr lang="pt-BR" dirty="0"/>
              <a:t> que permitam compreender os possíveis </a:t>
            </a:r>
            <a:r>
              <a:rPr lang="pt-BR" dirty="0" err="1"/>
              <a:t>tradeoffs</a:t>
            </a:r>
            <a:r>
              <a:rPr lang="pt-BR" dirty="0"/>
              <a:t> e recursos adicionais necessários para cada um deles</a:t>
            </a:r>
          </a:p>
        </p:txBody>
      </p:sp>
    </p:spTree>
    <p:extLst>
      <p:ext uri="{BB962C8B-B14F-4D97-AF65-F5344CB8AC3E}">
        <p14:creationId xmlns:p14="http://schemas.microsoft.com/office/powerpoint/2010/main" val="1948790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815F37-A025-131B-09A4-1D55DE75C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Especificações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0A705D-2521-1582-483F-880CA1BC4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32086"/>
            <a:ext cx="10653579" cy="4593828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Os experimentos aqui detalhados foram realizados num computador com:</a:t>
            </a:r>
          </a:p>
          <a:p>
            <a:pPr lvl="1"/>
            <a:r>
              <a:rPr lang="pt-BR" dirty="0"/>
              <a:t>Processador</a:t>
            </a:r>
            <a:r>
              <a:rPr lang="pt-BR" b="1" dirty="0"/>
              <a:t> Intel Core i5-5350U </a:t>
            </a:r>
            <a:r>
              <a:rPr lang="pt-BR" dirty="0"/>
              <a:t>com 2 núcleos físicos e 4 núcleos lógicos</a:t>
            </a:r>
          </a:p>
          <a:p>
            <a:pPr lvl="1"/>
            <a:r>
              <a:rPr lang="pt-BR" dirty="0"/>
              <a:t>8GB de memória RAM DDR3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O programa supõe um sistema operacional </a:t>
            </a:r>
            <a:r>
              <a:rPr lang="pt-BR" b="1" dirty="0"/>
              <a:t>Linux</a:t>
            </a:r>
            <a:r>
              <a:rPr lang="pt-BR" dirty="0"/>
              <a:t>, e a </a:t>
            </a:r>
            <a:r>
              <a:rPr lang="pt-BR" dirty="0" err="1"/>
              <a:t>distro</a:t>
            </a:r>
            <a:r>
              <a:rPr lang="pt-BR" dirty="0"/>
              <a:t> utilizada durante a execução dos programas foi o Ubuntu (v24.04.2)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Todo o código do simulador implementado foi escrito em C, e os gráficos presentes nesta apresentação foram gerados em Python, utilizando </a:t>
            </a:r>
            <a:r>
              <a:rPr lang="pt-BR" dirty="0" err="1"/>
              <a:t>Matplotlib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34878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412C00-DB83-7BA3-6C5E-D0E3D9668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 Auxiliares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548485-7F9C-A510-EA21-3DA1E6066E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5363221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Dado que o programa simula situações de gerenciamento de memória, faz sentido ser cauteloso quanto ao </a:t>
            </a:r>
            <a:r>
              <a:rPr lang="pt-BR" b="1" dirty="0"/>
              <a:t>consumo de memória dos próprios algoritmos</a:t>
            </a:r>
          </a:p>
          <a:p>
            <a:pPr>
              <a:buFont typeface="Wingdings" pitchFamily="2" charset="2"/>
              <a:buChar char="§"/>
            </a:pPr>
            <a:r>
              <a:rPr lang="pt-BR" dirty="0">
                <a:cs typeface="Consolas" panose="020B0609020204030204" pitchFamily="49" charset="0"/>
              </a:rPr>
              <a:t>Por isso, abordaremos as </a:t>
            </a:r>
            <a:r>
              <a:rPr lang="pt-BR" b="1" dirty="0">
                <a:cs typeface="Consolas" panose="020B0609020204030204" pitchFamily="49" charset="0"/>
              </a:rPr>
              <a:t>variáveis adicionais </a:t>
            </a:r>
            <a:r>
              <a:rPr lang="pt-BR" dirty="0">
                <a:cs typeface="Consolas" panose="020B0609020204030204" pitchFamily="49" charset="0"/>
              </a:rPr>
              <a:t>que cada um necessitou para funcionar. As que todos eles precisaram utilizar foram:</a:t>
            </a:r>
          </a:p>
          <a:p>
            <a:pPr lvl="1"/>
            <a:r>
              <a:rPr lang="pt-BR" dirty="0">
                <a:cs typeface="Consolas" panose="020B0609020204030204" pitchFamily="49" charset="0"/>
              </a:rPr>
              <a:t>Variáveis para calcular a posição correta do arquivo .</a:t>
            </a:r>
            <a:r>
              <a:rPr lang="pt-BR" dirty="0" err="1">
                <a:cs typeface="Consolas" panose="020B0609020204030204" pitchFamily="49" charset="0"/>
              </a:rPr>
              <a:t>pgm</a:t>
            </a:r>
            <a:r>
              <a:rPr lang="pt-BR" dirty="0">
                <a:cs typeface="Consolas" panose="020B0609020204030204" pitchFamily="49" charset="0"/>
              </a:rPr>
              <a:t> a ser lida/escrita, e buffer de leitura</a:t>
            </a:r>
          </a:p>
          <a:p>
            <a:pPr lvl="1"/>
            <a:r>
              <a:rPr lang="pt-BR" dirty="0">
                <a:cs typeface="Consolas" panose="020B0609020204030204" pitchFamily="49" charset="0"/>
              </a:rPr>
              <a:t>Um inteiro para registrar o tamanho do atual bloco contínuo de unidades livres, e outro para marcar o início do mesmo (para sabermos quando há espaço suficiente)</a:t>
            </a:r>
          </a:p>
          <a:p>
            <a:pPr lvl="1"/>
            <a:r>
              <a:rPr lang="pt-BR" dirty="0">
                <a:cs typeface="Consolas" panose="020B0609020204030204" pitchFamily="49" charset="0"/>
              </a:rPr>
              <a:t>Um inteiro </a:t>
            </a:r>
            <a:r>
              <a:rPr lang="pt-BR" dirty="0" err="1">
                <a:cs typeface="Consolas" panose="020B0609020204030204" pitchFamily="49" charset="0"/>
              </a:rPr>
              <a:t>i</a:t>
            </a:r>
            <a:r>
              <a:rPr lang="pt-BR" dirty="0">
                <a:cs typeface="Consolas" panose="020B0609020204030204" pitchFamily="49" charset="0"/>
              </a:rPr>
              <a:t> para iterar sobre todas as posições do .</a:t>
            </a:r>
            <a:r>
              <a:rPr lang="pt-BR" dirty="0" err="1">
                <a:cs typeface="Consolas" panose="020B0609020204030204" pitchFamily="49" charset="0"/>
              </a:rPr>
              <a:t>pgm</a:t>
            </a:r>
            <a:endParaRPr lang="pt-BR" dirty="0">
              <a:cs typeface="Consolas" panose="020B0609020204030204" pitchFamily="49" charset="0"/>
            </a:endParaRPr>
          </a:p>
          <a:p>
            <a:pPr>
              <a:buFont typeface="Wingdings" pitchFamily="2" charset="2"/>
              <a:buChar char="§"/>
            </a:pPr>
            <a:r>
              <a:rPr lang="pt-BR" dirty="0">
                <a:cs typeface="Consolas" panose="020B0609020204030204" pitchFamily="49" charset="0"/>
              </a:rPr>
              <a:t>Fora essas, cada algoritmo precisou especificamente de:</a:t>
            </a:r>
          </a:p>
          <a:p>
            <a:pPr lvl="1"/>
            <a:r>
              <a:rPr lang="pt-BR" b="1" dirty="0" err="1">
                <a:cs typeface="Consolas" panose="020B0609020204030204" pitchFamily="49" charset="0"/>
              </a:rPr>
              <a:t>First-fit</a:t>
            </a:r>
            <a:r>
              <a:rPr lang="pt-BR" dirty="0">
                <a:cs typeface="Consolas" panose="020B0609020204030204" pitchFamily="49" charset="0"/>
              </a:rPr>
              <a:t>: </a:t>
            </a:r>
            <a:r>
              <a:rPr lang="pt-BR" b="1" dirty="0">
                <a:cs typeface="Consolas" panose="020B0609020204030204" pitchFamily="49" charset="0"/>
              </a:rPr>
              <a:t>nada</a:t>
            </a:r>
            <a:r>
              <a:rPr lang="pt-BR" dirty="0">
                <a:cs typeface="Consolas" panose="020B0609020204030204" pitchFamily="49" charset="0"/>
              </a:rPr>
              <a:t> adicional</a:t>
            </a:r>
          </a:p>
          <a:p>
            <a:pPr lvl="1"/>
            <a:r>
              <a:rPr lang="pt-BR" b="1" dirty="0">
                <a:cs typeface="Consolas" panose="020B0609020204030204" pitchFamily="49" charset="0"/>
              </a:rPr>
              <a:t>Next-</a:t>
            </a:r>
            <a:r>
              <a:rPr lang="pt-BR" b="1" dirty="0" err="1">
                <a:cs typeface="Consolas" panose="020B0609020204030204" pitchFamily="49" charset="0"/>
              </a:rPr>
              <a:t>fit</a:t>
            </a:r>
            <a:r>
              <a:rPr lang="pt-BR" dirty="0">
                <a:cs typeface="Consolas" panose="020B0609020204030204" pitchFamily="49" charset="0"/>
              </a:rPr>
              <a:t>: inteiro que registra a </a:t>
            </a:r>
            <a:r>
              <a:rPr lang="pt-BR" b="1" dirty="0">
                <a:cs typeface="Consolas" panose="020B0609020204030204" pitchFamily="49" charset="0"/>
              </a:rPr>
              <a:t>última unidade alocada pelo algoritmo</a:t>
            </a:r>
          </a:p>
          <a:p>
            <a:pPr lvl="1"/>
            <a:r>
              <a:rPr lang="pt-BR" b="1" dirty="0">
                <a:cs typeface="Consolas" panose="020B0609020204030204" pitchFamily="49" charset="0"/>
              </a:rPr>
              <a:t>Best-</a:t>
            </a:r>
            <a:r>
              <a:rPr lang="pt-BR" b="1" dirty="0" err="1">
                <a:cs typeface="Consolas" panose="020B0609020204030204" pitchFamily="49" charset="0"/>
              </a:rPr>
              <a:t>fit</a:t>
            </a:r>
            <a:r>
              <a:rPr lang="pt-BR" b="1" dirty="0">
                <a:cs typeface="Consolas" panose="020B0609020204030204" pitchFamily="49" charset="0"/>
              </a:rPr>
              <a:t> e </a:t>
            </a:r>
            <a:r>
              <a:rPr lang="pt-BR" b="1" dirty="0" err="1">
                <a:cs typeface="Consolas" panose="020B0609020204030204" pitchFamily="49" charset="0"/>
              </a:rPr>
              <a:t>Worst-fit</a:t>
            </a:r>
            <a:r>
              <a:rPr lang="pt-BR" dirty="0">
                <a:cs typeface="Consolas" panose="020B0609020204030204" pitchFamily="49" charset="0"/>
              </a:rPr>
              <a:t>: inteiro que registra o tamanho do </a:t>
            </a:r>
            <a:r>
              <a:rPr lang="pt-BR" b="1" dirty="0">
                <a:cs typeface="Consolas" panose="020B0609020204030204" pitchFamily="49" charset="0"/>
              </a:rPr>
              <a:t>melhor bloco contínuo de unidades livres</a:t>
            </a:r>
            <a:r>
              <a:rPr lang="pt-BR" dirty="0">
                <a:cs typeface="Consolas" panose="020B0609020204030204" pitchFamily="49" charset="0"/>
              </a:rPr>
              <a:t> que satisfaça as unidades requisitadas (o menor no </a:t>
            </a:r>
            <a:r>
              <a:rPr lang="pt-BR" dirty="0" err="1">
                <a:cs typeface="Consolas" panose="020B0609020204030204" pitchFamily="49" charset="0"/>
              </a:rPr>
              <a:t>best</a:t>
            </a:r>
            <a:r>
              <a:rPr lang="pt-BR" dirty="0">
                <a:cs typeface="Consolas" panose="020B0609020204030204" pitchFamily="49" charset="0"/>
              </a:rPr>
              <a:t>, o maior no </a:t>
            </a:r>
            <a:r>
              <a:rPr lang="pt-BR" dirty="0" err="1">
                <a:cs typeface="Consolas" panose="020B0609020204030204" pitchFamily="49" charset="0"/>
              </a:rPr>
              <a:t>worst</a:t>
            </a:r>
            <a:r>
              <a:rPr lang="pt-BR" dirty="0">
                <a:cs typeface="Consolas" panose="020B0609020204030204" pitchFamily="49" charset="0"/>
              </a:rPr>
              <a:t>) e outro para marcar o início do mesmo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96132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 – Tempo de Execução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5286032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Avaliaremos os algoritmos em dois aspectos principais: tempo de execução e quantia de alocações não concretizadas (falhas)</a:t>
            </a:r>
          </a:p>
          <a:p>
            <a:pPr>
              <a:buFont typeface="Wingdings" pitchFamily="2" charset="2"/>
              <a:buChar char="§"/>
            </a:pPr>
            <a:r>
              <a:rPr lang="pt-BR" b="1" dirty="0"/>
              <a:t>O </a:t>
            </a:r>
            <a:r>
              <a:rPr lang="pt-BR" b="1" dirty="0" err="1"/>
              <a:t>first-fit</a:t>
            </a:r>
            <a:r>
              <a:rPr lang="pt-BR" b="1" dirty="0"/>
              <a:t> e o </a:t>
            </a:r>
            <a:r>
              <a:rPr lang="pt-BR" b="1" dirty="0" err="1"/>
              <a:t>next-fit</a:t>
            </a:r>
            <a:r>
              <a:rPr lang="pt-BR" b="1" dirty="0"/>
              <a:t> </a:t>
            </a:r>
            <a:r>
              <a:rPr lang="pt-BR" dirty="0"/>
              <a:t>se destacam pela sua eficiência em </a:t>
            </a:r>
            <a:r>
              <a:rPr lang="pt-BR" b="1" dirty="0"/>
              <a:t>tempo de execução</a:t>
            </a:r>
            <a:r>
              <a:rPr lang="pt-BR" dirty="0"/>
              <a:t>, além de necessitarem de ligeiramente menos varáveis adicionais. </a:t>
            </a:r>
          </a:p>
          <a:p>
            <a:pPr lvl="1"/>
            <a:r>
              <a:rPr lang="pt-BR" dirty="0"/>
              <a:t>Isso pois o </a:t>
            </a:r>
            <a:r>
              <a:rPr lang="pt-BR" dirty="0" err="1"/>
              <a:t>best-fit</a:t>
            </a:r>
            <a:r>
              <a:rPr lang="pt-BR" dirty="0"/>
              <a:t> e o </a:t>
            </a:r>
            <a:r>
              <a:rPr lang="pt-BR" dirty="0" err="1"/>
              <a:t>worst-fit</a:t>
            </a:r>
            <a:r>
              <a:rPr lang="pt-BR" dirty="0"/>
              <a:t> necessariamente </a:t>
            </a:r>
            <a:r>
              <a:rPr lang="pt-BR" b="1" dirty="0"/>
              <a:t>varrem a memória inteira </a:t>
            </a:r>
            <a:r>
              <a:rPr lang="pt-BR" dirty="0"/>
              <a:t>em toda tentativa de alocação, o que é custoso. Os outros dois, embora no pior caso (sem espaço livre) necessitem percorrer toda a memória também, em média não precisam fazê-lo</a:t>
            </a:r>
          </a:p>
          <a:p>
            <a:pPr lvl="1"/>
            <a:r>
              <a:rPr lang="pt-BR" dirty="0"/>
              <a:t>O fator diferencial do </a:t>
            </a:r>
            <a:r>
              <a:rPr lang="pt-BR" dirty="0" err="1"/>
              <a:t>next-fit</a:t>
            </a:r>
            <a:r>
              <a:rPr lang="pt-BR" dirty="0"/>
              <a:t>, registrar a última posição alocada, tenta </a:t>
            </a:r>
            <a:r>
              <a:rPr lang="pt-BR" b="1" dirty="0"/>
              <a:t>evitar buscas desnecessárias que o </a:t>
            </a:r>
            <a:r>
              <a:rPr lang="pt-BR" b="1" dirty="0" err="1"/>
              <a:t>first-fit</a:t>
            </a:r>
            <a:r>
              <a:rPr lang="pt-BR" b="1" dirty="0"/>
              <a:t> tende a fazer</a:t>
            </a:r>
            <a:r>
              <a:rPr lang="pt-BR" dirty="0"/>
              <a:t>, e portanto esperamos que na maioria dos casos o </a:t>
            </a:r>
            <a:r>
              <a:rPr lang="pt-BR" dirty="0" err="1"/>
              <a:t>next</a:t>
            </a:r>
            <a:r>
              <a:rPr lang="pt-BR" dirty="0"/>
              <a:t> seja o mais rápido.  Um aspecto negativo dessa abordagem do </a:t>
            </a:r>
            <a:r>
              <a:rPr lang="pt-BR" dirty="0" err="1"/>
              <a:t>next</a:t>
            </a:r>
            <a:r>
              <a:rPr lang="pt-BR" dirty="0"/>
              <a:t> é que ele em geral fragmenta a memória em pontos distintos, distribuindo espaços que podem ser inúteis, enquanto que o </a:t>
            </a:r>
            <a:r>
              <a:rPr lang="pt-BR" dirty="0" err="1"/>
              <a:t>first</a:t>
            </a:r>
            <a:r>
              <a:rPr lang="pt-BR" dirty="0"/>
              <a:t>, por sempre tentar as posições iniciais, tende a concentrar a alocação, deixando a região ocupada mais densa (na parte inicial da memória) e portanto a livre menos fragmentada, o que muitas vezes reduz o número de falhas</a:t>
            </a:r>
          </a:p>
        </p:txBody>
      </p:sp>
    </p:spTree>
    <p:extLst>
      <p:ext uri="{BB962C8B-B14F-4D97-AF65-F5344CB8AC3E}">
        <p14:creationId xmlns:p14="http://schemas.microsoft.com/office/powerpoint/2010/main" val="2870233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Experimentos – Falhas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5286032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b="1" dirty="0"/>
              <a:t>O </a:t>
            </a:r>
            <a:r>
              <a:rPr lang="pt-BR" b="1" dirty="0" err="1"/>
              <a:t>best-fit</a:t>
            </a:r>
            <a:r>
              <a:rPr lang="pt-BR" b="1" dirty="0"/>
              <a:t> e o </a:t>
            </a:r>
            <a:r>
              <a:rPr lang="pt-BR" b="1" dirty="0" err="1"/>
              <a:t>worst-fit</a:t>
            </a:r>
            <a:r>
              <a:rPr lang="pt-BR" b="1" dirty="0"/>
              <a:t> </a:t>
            </a:r>
            <a:r>
              <a:rPr lang="pt-BR" dirty="0"/>
              <a:t>se destacam por, em geral, serem </a:t>
            </a:r>
            <a:r>
              <a:rPr lang="pt-BR" b="1" dirty="0"/>
              <a:t>capazes de alocar mais memória</a:t>
            </a:r>
            <a:r>
              <a:rPr lang="pt-BR" dirty="0"/>
              <a:t>, por terem uma lógica um pouco mais complicada por trás de suas escolhas</a:t>
            </a:r>
          </a:p>
          <a:p>
            <a:pPr lvl="1"/>
            <a:r>
              <a:rPr lang="pt-BR" dirty="0"/>
              <a:t>Vale notar que, conhecendo a lógica por trás de cada um deles, é possível elaborar arquivos de trace que </a:t>
            </a:r>
            <a:r>
              <a:rPr lang="pt-BR" b="1" dirty="0"/>
              <a:t>favoreçam um em detrimento do outro</a:t>
            </a:r>
            <a:r>
              <a:rPr lang="pt-BR" dirty="0"/>
              <a:t>, dado que suas lógicas são, em grande parte, antagônicas</a:t>
            </a:r>
          </a:p>
          <a:p>
            <a:pPr lvl="1"/>
            <a:r>
              <a:rPr lang="pt-BR" dirty="0"/>
              <a:t>Para o </a:t>
            </a:r>
            <a:r>
              <a:rPr lang="pt-BR" dirty="0" err="1"/>
              <a:t>first</a:t>
            </a:r>
            <a:r>
              <a:rPr lang="pt-BR" dirty="0"/>
              <a:t>/</a:t>
            </a:r>
            <a:r>
              <a:rPr lang="pt-BR" dirty="0" err="1"/>
              <a:t>next-fit</a:t>
            </a:r>
            <a:r>
              <a:rPr lang="pt-BR" dirty="0"/>
              <a:t>, embora, como já mencionado, ao longo de muitas entradas diferentes espera-se que o </a:t>
            </a:r>
            <a:r>
              <a:rPr lang="pt-BR" dirty="0" err="1"/>
              <a:t>first</a:t>
            </a:r>
            <a:r>
              <a:rPr lang="pt-BR" dirty="0"/>
              <a:t> resulte em menos falhas, provavelmente não haverá uma diferença significativa o suficiente com apenas 4 arquivos de trace para traçar conclusões definitivas. Ainda assim, esperamos mais falhas destes dois em comparação ao </a:t>
            </a:r>
            <a:r>
              <a:rPr lang="pt-BR" dirty="0" err="1"/>
              <a:t>best</a:t>
            </a:r>
            <a:r>
              <a:rPr lang="pt-BR" dirty="0"/>
              <a:t>/</a:t>
            </a:r>
            <a:r>
              <a:rPr lang="pt-BR" dirty="0" err="1"/>
              <a:t>worst-fit</a:t>
            </a:r>
            <a:endParaRPr lang="pt-BR" dirty="0"/>
          </a:p>
          <a:p>
            <a:pPr>
              <a:buFont typeface="Wingdings" pitchFamily="2" charset="2"/>
              <a:buChar char="§"/>
            </a:pPr>
            <a:r>
              <a:rPr lang="pt-BR" dirty="0"/>
              <a:t>Tendo isso em mente, nos slides a seguir mostraremos os resultados de tempo e falhas dos experimentos realizados com cada arquivo de trace. Note que daremos mais ênfase à </a:t>
            </a:r>
            <a:r>
              <a:rPr lang="pt-BR" b="1" dirty="0"/>
              <a:t>comparação de tempo entre </a:t>
            </a:r>
            <a:r>
              <a:rPr lang="pt-BR" b="1" dirty="0" err="1"/>
              <a:t>first</a:t>
            </a:r>
            <a:r>
              <a:rPr lang="pt-BR" b="1" dirty="0"/>
              <a:t> e </a:t>
            </a:r>
            <a:r>
              <a:rPr lang="pt-BR" b="1" dirty="0" err="1"/>
              <a:t>next</a:t>
            </a:r>
            <a:r>
              <a:rPr lang="pt-BR" dirty="0"/>
              <a:t>, nos seus respectivos trace, e </a:t>
            </a:r>
            <a:r>
              <a:rPr lang="pt-BR" b="1" dirty="0"/>
              <a:t>falhas entre </a:t>
            </a:r>
            <a:r>
              <a:rPr lang="pt-BR" b="1" dirty="0" err="1"/>
              <a:t>best</a:t>
            </a:r>
            <a:r>
              <a:rPr lang="pt-BR" b="1" dirty="0"/>
              <a:t> e </a:t>
            </a:r>
            <a:r>
              <a:rPr lang="pt-BR" b="1" dirty="0" err="1"/>
              <a:t>worst</a:t>
            </a:r>
            <a:r>
              <a:rPr lang="pt-BR" dirty="0"/>
              <a:t>, mas mostraremos todos os dados obtidos para permitir uma noção mais ampla dos resultados</a:t>
            </a:r>
          </a:p>
        </p:txBody>
      </p:sp>
    </p:spTree>
    <p:extLst>
      <p:ext uri="{BB962C8B-B14F-4D97-AF65-F5344CB8AC3E}">
        <p14:creationId xmlns:p14="http://schemas.microsoft.com/office/powerpoint/2010/main" val="2187980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Trace </a:t>
            </a:r>
            <a:r>
              <a:rPr lang="pt-BR" dirty="0" err="1"/>
              <a:t>First</a:t>
            </a:r>
            <a:r>
              <a:rPr lang="pt-BR" dirty="0"/>
              <a:t>-Fit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114769"/>
            <a:ext cx="6389426" cy="5286032"/>
          </a:xfrm>
        </p:spPr>
        <p:txBody>
          <a:bodyPr>
            <a:normAutofit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Aqui, utilizamos um exemplo mais </a:t>
            </a:r>
            <a:r>
              <a:rPr lang="pt-BR" dirty="0" err="1"/>
              <a:t>minimal</a:t>
            </a:r>
            <a:r>
              <a:rPr lang="pt-BR" dirty="0"/>
              <a:t>, de modo que </a:t>
            </a:r>
            <a:r>
              <a:rPr lang="pt-BR" b="1" dirty="0"/>
              <a:t>não houve falha</a:t>
            </a:r>
            <a:r>
              <a:rPr lang="pt-BR" dirty="0"/>
              <a:t> em nenhum dos algoritmos. Assim, </a:t>
            </a:r>
            <a:r>
              <a:rPr lang="pt-BR" dirty="0" err="1"/>
              <a:t>best-fit</a:t>
            </a:r>
            <a:r>
              <a:rPr lang="pt-BR" dirty="0"/>
              <a:t> e </a:t>
            </a:r>
            <a:r>
              <a:rPr lang="pt-BR" dirty="0" err="1"/>
              <a:t>worst-fit</a:t>
            </a:r>
            <a:r>
              <a:rPr lang="pt-BR" dirty="0"/>
              <a:t> foram praticamente idênticos em tempo de execução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Criamos situações em que o </a:t>
            </a:r>
            <a:r>
              <a:rPr lang="pt-BR" b="1" dirty="0" err="1"/>
              <a:t>next-fit</a:t>
            </a:r>
            <a:r>
              <a:rPr lang="pt-BR" dirty="0"/>
              <a:t> precisou dar </a:t>
            </a:r>
            <a:r>
              <a:rPr lang="pt-BR" b="1" dirty="0"/>
              <a:t>quase uma volta completa</a:t>
            </a:r>
            <a:r>
              <a:rPr lang="pt-BR" dirty="0"/>
              <a:t> muitas vezes, primeiro escolhendo um valor só disponível no fim do </a:t>
            </a:r>
            <a:r>
              <a:rPr lang="pt-BR" dirty="0" err="1"/>
              <a:t>pgm</a:t>
            </a:r>
            <a:r>
              <a:rPr lang="pt-BR" dirty="0"/>
              <a:t>, depois um pouco antes, e assim por diante. Enquanto o </a:t>
            </a:r>
            <a:r>
              <a:rPr lang="pt-BR" dirty="0" err="1"/>
              <a:t>next</a:t>
            </a:r>
            <a:r>
              <a:rPr lang="pt-BR" dirty="0"/>
              <a:t> dava voltas grandes, o espaço livre ficava cada vez mais próximo do </a:t>
            </a:r>
            <a:r>
              <a:rPr lang="pt-BR" dirty="0" err="1"/>
              <a:t>first-fit</a:t>
            </a:r>
            <a:endParaRPr lang="pt-BR" dirty="0"/>
          </a:p>
          <a:p>
            <a:pPr>
              <a:buFont typeface="Wingdings" pitchFamily="2" charset="2"/>
              <a:buChar char="§"/>
            </a:pPr>
            <a:r>
              <a:rPr lang="pt-BR" dirty="0"/>
              <a:t>Escolher uma situação em que o </a:t>
            </a:r>
            <a:r>
              <a:rPr lang="pt-BR" dirty="0" err="1"/>
              <a:t>first</a:t>
            </a:r>
            <a:r>
              <a:rPr lang="pt-BR" dirty="0"/>
              <a:t> é mais rápido envolve, normalmente, casos mais específicos como este, e ainda assim houve um desempenho apenas 25% melhor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94B826D-D768-75B5-B88F-E9E051257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48640"/>
            <a:ext cx="4264152" cy="3602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666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Trace Next-</a:t>
            </a:r>
            <a:r>
              <a:rPr lang="pt-BR" dirty="0" err="1"/>
              <a:t>fit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114768"/>
            <a:ext cx="6389426" cy="5475217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Este trace é maximal, requisitando toda a memória disponível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Para melhor desempenho do </a:t>
            </a:r>
            <a:r>
              <a:rPr lang="pt-BR" b="1" dirty="0" err="1"/>
              <a:t>next-fit</a:t>
            </a:r>
            <a:r>
              <a:rPr lang="pt-BR" dirty="0"/>
              <a:t>, garantimos que a primeira metade do trace, que possui as maiores requisições, poderia ser </a:t>
            </a:r>
            <a:r>
              <a:rPr lang="pt-BR" b="1" dirty="0"/>
              <a:t>concluída em uma única volta</a:t>
            </a:r>
            <a:r>
              <a:rPr lang="pt-BR" dirty="0"/>
              <a:t> na memória pelo </a:t>
            </a:r>
            <a:r>
              <a:rPr lang="pt-BR" dirty="0" err="1"/>
              <a:t>next</a:t>
            </a:r>
            <a:r>
              <a:rPr lang="pt-BR" dirty="0"/>
              <a:t>. Para tal, sempre haviam espaços disponíveis sequencialmente, o que favorece o </a:t>
            </a:r>
            <a:r>
              <a:rPr lang="pt-BR" dirty="0" err="1"/>
              <a:t>next</a:t>
            </a:r>
            <a:r>
              <a:rPr lang="pt-BR" dirty="0"/>
              <a:t> e torna o </a:t>
            </a:r>
            <a:r>
              <a:rPr lang="pt-BR" dirty="0" err="1"/>
              <a:t>first</a:t>
            </a:r>
            <a:r>
              <a:rPr lang="pt-BR" dirty="0"/>
              <a:t> bem menos eficiente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O </a:t>
            </a:r>
            <a:r>
              <a:rPr lang="pt-BR" dirty="0" err="1"/>
              <a:t>next-fit</a:t>
            </a:r>
            <a:r>
              <a:rPr lang="pt-BR" dirty="0"/>
              <a:t> foi </a:t>
            </a:r>
            <a:r>
              <a:rPr lang="pt-BR" b="1" dirty="0"/>
              <a:t>72% mais rápido </a:t>
            </a:r>
            <a:r>
              <a:rPr lang="pt-BR" dirty="0"/>
              <a:t>que o </a:t>
            </a:r>
            <a:r>
              <a:rPr lang="pt-BR" dirty="0" err="1"/>
              <a:t>first-fit</a:t>
            </a:r>
            <a:r>
              <a:rPr lang="pt-BR" dirty="0"/>
              <a:t>, mas este teve algumas falhas a menos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Em questão de falhas, o ponto inesperado é o baixo desempenho do </a:t>
            </a:r>
            <a:r>
              <a:rPr lang="pt-BR" dirty="0" err="1"/>
              <a:t>worst</a:t>
            </a:r>
            <a:r>
              <a:rPr lang="pt-BR" dirty="0"/>
              <a:t>. Isso ocorreu pois os maiores espaços foram ocupados muito rapidamente, gerando falhas na primeira metade do arquivo, de valores maiores que supunham espaço grande livre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522A2C1-68E3-B10E-BDE5-1B0FFB3B9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7735" y="303816"/>
            <a:ext cx="3951026" cy="326743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32E6794-8F8C-7CCB-A8BB-29AF146D5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734" y="3513852"/>
            <a:ext cx="3951026" cy="334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564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Trace Best-</a:t>
            </a:r>
            <a:r>
              <a:rPr lang="pt-BR" dirty="0" err="1"/>
              <a:t>fit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114768"/>
            <a:ext cx="6389426" cy="547521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Este trace faz requisições de todos os espaços livres, no valor total de cada espaço, na ordem crescente de tamanho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Essa abordagem garante que o </a:t>
            </a:r>
            <a:r>
              <a:rPr lang="pt-BR" b="1" dirty="0" err="1"/>
              <a:t>best-fit</a:t>
            </a:r>
            <a:r>
              <a:rPr lang="pt-BR" dirty="0"/>
              <a:t> sempre escolha um espaço de modo que, após a alocação, </a:t>
            </a:r>
            <a:r>
              <a:rPr lang="pt-BR" b="1" dirty="0"/>
              <a:t>não sobre espaço livre</a:t>
            </a:r>
            <a:r>
              <a:rPr lang="pt-BR" dirty="0"/>
              <a:t> nele. É o </a:t>
            </a:r>
            <a:r>
              <a:rPr lang="pt-BR" b="1" dirty="0"/>
              <a:t>cenário ideal</a:t>
            </a:r>
            <a:r>
              <a:rPr lang="pt-BR" dirty="0"/>
              <a:t> suposto pela premissa do </a:t>
            </a:r>
            <a:r>
              <a:rPr lang="pt-BR" dirty="0" err="1"/>
              <a:t>best-fit</a:t>
            </a:r>
            <a:endParaRPr lang="pt-BR" dirty="0"/>
          </a:p>
          <a:p>
            <a:pPr>
              <a:buFont typeface="Wingdings" pitchFamily="2" charset="2"/>
              <a:buChar char="§"/>
            </a:pPr>
            <a:r>
              <a:rPr lang="pt-BR" dirty="0"/>
              <a:t>A partir de uma certa linha do arquivo, o </a:t>
            </a:r>
            <a:r>
              <a:rPr lang="pt-BR" b="1" dirty="0" err="1"/>
              <a:t>worst-fit</a:t>
            </a:r>
            <a:r>
              <a:rPr lang="pt-BR" dirty="0"/>
              <a:t> não conseguiu fazer mais </a:t>
            </a:r>
            <a:r>
              <a:rPr lang="pt-BR" b="1" dirty="0"/>
              <a:t>nenhuma alocação</a:t>
            </a:r>
            <a:r>
              <a:rPr lang="pt-BR" dirty="0"/>
              <a:t>, dado que sua premissa, de guardar espaço futuro para requisições pequenas/médias, é violada, tendo em vista que nunca haverá uma requisição menor do que a atual, apenas maiores ou iguais, para as quais já não haverá espaço disponível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66ADCAB-BA3D-4846-9B8F-353CAC8E5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7734" y="307759"/>
            <a:ext cx="3951026" cy="3250586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AF5826B2-0610-8D78-2AC3-B9E389BE0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734" y="3428999"/>
            <a:ext cx="3951026" cy="3394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817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Trace </a:t>
            </a:r>
            <a:r>
              <a:rPr lang="pt-BR" dirty="0" err="1"/>
              <a:t>Worst-fit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114768"/>
            <a:ext cx="6389426" cy="5475217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Este trace tem uma </a:t>
            </a:r>
            <a:r>
              <a:rPr lang="pt-BR" b="1" dirty="0"/>
              <a:t>etapa inicial </a:t>
            </a:r>
            <a:r>
              <a:rPr lang="pt-BR" dirty="0"/>
              <a:t>em que cria um </a:t>
            </a:r>
            <a:r>
              <a:rPr lang="pt-BR" b="1" dirty="0"/>
              <a:t>cenário ideal para o </a:t>
            </a:r>
            <a:r>
              <a:rPr lang="pt-BR" b="1" dirty="0" err="1"/>
              <a:t>worst-fit</a:t>
            </a:r>
            <a:r>
              <a:rPr lang="pt-BR" dirty="0"/>
              <a:t>: algumas requisições menores são feitas, e logo em seguida pede-se um espaço grande que, somado a essas menores, totaliza o maior espaço da memória inicialmente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Ao mesmo tempo, pelo </a:t>
            </a:r>
            <a:r>
              <a:rPr lang="pt-BR" b="1" dirty="0" err="1"/>
              <a:t>best-fit</a:t>
            </a:r>
            <a:r>
              <a:rPr lang="pt-BR" dirty="0"/>
              <a:t>, essas requisições menores espalham </a:t>
            </a:r>
            <a:r>
              <a:rPr lang="pt-BR" b="1" dirty="0"/>
              <a:t>espaços livres pequenos demais</a:t>
            </a:r>
            <a:r>
              <a:rPr lang="pt-BR" dirty="0"/>
              <a:t> pela memória. Ao fim do trace, tais espaços são requisitados, e enquanto o </a:t>
            </a:r>
            <a:r>
              <a:rPr lang="pt-BR" dirty="0" err="1"/>
              <a:t>worst-fit</a:t>
            </a:r>
            <a:r>
              <a:rPr lang="pt-BR" dirty="0"/>
              <a:t> os têm disponíveis, o </a:t>
            </a:r>
            <a:r>
              <a:rPr lang="pt-BR" dirty="0" err="1"/>
              <a:t>best</a:t>
            </a:r>
            <a:r>
              <a:rPr lang="pt-BR" dirty="0"/>
              <a:t> os fragmentou, e ocorre falha neste último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Logo, enquanto o </a:t>
            </a:r>
            <a:r>
              <a:rPr lang="pt-BR" dirty="0" err="1"/>
              <a:t>worst-fit</a:t>
            </a:r>
            <a:r>
              <a:rPr lang="pt-BR" dirty="0"/>
              <a:t> tem aqui em parte um cenário ideal, a </a:t>
            </a:r>
            <a:r>
              <a:rPr lang="pt-BR" b="1" dirty="0"/>
              <a:t>hipótese do </a:t>
            </a:r>
            <a:r>
              <a:rPr lang="pt-BR" b="1" dirty="0" err="1"/>
              <a:t>best-fit</a:t>
            </a:r>
            <a:r>
              <a:rPr lang="pt-BR" dirty="0"/>
              <a:t>, de deixar grandes espaços para grandes requisições, </a:t>
            </a:r>
            <a:r>
              <a:rPr lang="pt-BR" b="1" dirty="0"/>
              <a:t>não é tão aproveitada</a:t>
            </a:r>
            <a:r>
              <a:rPr lang="pt-BR" dirty="0"/>
              <a:t>, e os espaços fragmentados fazem mais diferença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8440B78-9C7F-87EA-3AD4-88AE95ACAC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7732" y="323086"/>
            <a:ext cx="3951027" cy="324073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15E5F59-54A2-33F0-DBC8-F511CB8E6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7732" y="3429000"/>
            <a:ext cx="3951027" cy="334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2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089CE-467D-F616-182F-F3429EDD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0DBA55B-6F5A-2DED-9574-FE692F11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114769"/>
            <a:ext cx="10653579" cy="5286032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§"/>
            </a:pPr>
            <a:r>
              <a:rPr lang="pt-BR" dirty="0"/>
              <a:t>Pelos últimos slides, é visível que, conhecendo os algoritmos, podemos elaborar circunstâncias que configurem cenários ideais ou ruins, e em situações reais qualquer um dos dois pode acabar ocorrendo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Por conta disso, </a:t>
            </a:r>
            <a:r>
              <a:rPr lang="pt-BR" b="1" dirty="0"/>
              <a:t>nenhum dos algoritmos é universalmente melhor</a:t>
            </a:r>
            <a:r>
              <a:rPr lang="pt-BR" dirty="0"/>
              <a:t>, e é conveniente escolher aquele que, </a:t>
            </a:r>
            <a:r>
              <a:rPr lang="pt-BR" b="1" dirty="0"/>
              <a:t>em média, melhor atende o propósito da aplicação</a:t>
            </a:r>
            <a:r>
              <a:rPr lang="pt-BR" dirty="0"/>
              <a:t>, seja este o tempo de execução, quantidade de requisições atendidas, ou um meio termo entre os dois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Em grande parte, mesmo com uma quantidade baixa de arquivos de teste, pudemos observar uma </a:t>
            </a:r>
            <a:r>
              <a:rPr lang="pt-BR" b="1" dirty="0"/>
              <a:t>efetivação na prática do que prevíamos pela teoria</a:t>
            </a:r>
          </a:p>
          <a:p>
            <a:pPr>
              <a:buFont typeface="Wingdings" pitchFamily="2" charset="2"/>
              <a:buChar char="§"/>
            </a:pPr>
            <a:r>
              <a:rPr lang="pt-BR" dirty="0"/>
              <a:t>De modo geral, pelos testes apresentados e overheads discutidos para cada algoritmo, é possível ter uma noção bem estruturada sobre os </a:t>
            </a:r>
            <a:r>
              <a:rPr lang="pt-BR" b="1" dirty="0" err="1"/>
              <a:t>tradeoffs</a:t>
            </a:r>
            <a:r>
              <a:rPr lang="pt-BR" dirty="0"/>
              <a:t> que devem ser considerados, bem como algumas das razões que fazem com que estes ocorram</a:t>
            </a:r>
          </a:p>
        </p:txBody>
      </p:sp>
    </p:spTree>
    <p:extLst>
      <p:ext uri="{BB962C8B-B14F-4D97-AF65-F5344CB8AC3E}">
        <p14:creationId xmlns:p14="http://schemas.microsoft.com/office/powerpoint/2010/main" val="3579525260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</TotalTime>
  <Words>1435</Words>
  <Application>Microsoft Macintosh PowerPoint</Application>
  <PresentationFormat>Widescreen</PresentationFormat>
  <Paragraphs>57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Arial</vt:lpstr>
      <vt:lpstr>Calibri</vt:lpstr>
      <vt:lpstr>Neue Haas Grotesk Text Pro</vt:lpstr>
      <vt:lpstr>Wingdings</vt:lpstr>
      <vt:lpstr>VanillaVTI</vt:lpstr>
      <vt:lpstr>Alocação de Memória</vt:lpstr>
      <vt:lpstr>Introdução</vt:lpstr>
      <vt:lpstr>Especificações</vt:lpstr>
      <vt:lpstr>Variáveis Auxiliares</vt:lpstr>
      <vt:lpstr>Experimentos – Tempo de Execução</vt:lpstr>
      <vt:lpstr>Experimentos – Falhas</vt:lpstr>
      <vt:lpstr>Trace First-Fit</vt:lpstr>
      <vt:lpstr>Trace Next-fit</vt:lpstr>
      <vt:lpstr>Trace Best-fit</vt:lpstr>
      <vt:lpstr>Trace Worst-fit</vt:lpstr>
      <vt:lpstr>Conclusão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Comparação entre Algoritmos de Escalonamento</dc:title>
  <dc:creator>Rodrigo Julio Capobianco</dc:creator>
  <cp:lastModifiedBy>Rodrigo Julio Capobianco</cp:lastModifiedBy>
  <cp:revision>81</cp:revision>
  <dcterms:created xsi:type="dcterms:W3CDTF">2025-04-12T02:55:46Z</dcterms:created>
  <dcterms:modified xsi:type="dcterms:W3CDTF">2025-06-01T16:38:51Z</dcterms:modified>
</cp:coreProperties>
</file>