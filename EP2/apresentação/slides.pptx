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14"/>
  </p:notesMasterIdLst>
  <p:sldIdLst>
    <p:sldId id="256" r:id="rId2"/>
    <p:sldId id="257" r:id="rId3"/>
    <p:sldId id="260" r:id="rId4"/>
    <p:sldId id="261" r:id="rId5"/>
    <p:sldId id="262" r:id="rId6"/>
    <p:sldId id="263" r:id="rId7"/>
    <p:sldId id="266" r:id="rId8"/>
    <p:sldId id="264" r:id="rId9"/>
    <p:sldId id="265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19"/>
    <p:restoredTop sz="94681"/>
  </p:normalViewPr>
  <p:slideViewPr>
    <p:cSldViewPr snapToGrid="0">
      <p:cViewPr varScale="1">
        <p:scale>
          <a:sx n="215" d="100"/>
          <a:sy n="215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1DEBD-122D-9B4C-8A0B-868281EF4485}" type="datetimeFigureOut">
              <a:rPr lang="pt-BR" smtClean="0"/>
              <a:t>16/05/2025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CD988-2269-BE48-B258-67387CA0D8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5852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CD988-2269-BE48-B258-67387CA0D8B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44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CD988-2269-BE48-B258-67387CA0D8B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215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9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5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04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2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30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2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1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60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2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0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1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797DE5A-DA89-0A80-C73D-8DCE1A3E2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BA0014-A5CC-1470-2B23-7FB61215E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045" y="1174376"/>
            <a:ext cx="3509383" cy="2781752"/>
          </a:xfrm>
        </p:spPr>
        <p:txBody>
          <a:bodyPr>
            <a:normAutofit/>
          </a:bodyPr>
          <a:lstStyle/>
          <a:p>
            <a:pPr algn="l"/>
            <a:r>
              <a:rPr lang="pt-BR" sz="3400" dirty="0"/>
              <a:t>Ciclistas:</a:t>
            </a:r>
            <a:br>
              <a:rPr lang="pt-BR" sz="3400" dirty="0"/>
            </a:br>
            <a:r>
              <a:rPr lang="pt-BR" sz="3400" dirty="0"/>
              <a:t>Miss </a:t>
            </a:r>
            <a:r>
              <a:rPr lang="pt-BR" sz="3400" dirty="0" err="1"/>
              <a:t>and</a:t>
            </a:r>
            <a:r>
              <a:rPr lang="pt-BR" sz="3400" dirty="0"/>
              <a:t> Out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AAE961-F2BE-24A3-6B13-8A1EBB40F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045" y="4062940"/>
            <a:ext cx="3509383" cy="1394913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Programação Concorrente</a:t>
            </a:r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304B6BE4-62D1-C053-D6EB-1802F6291F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85" r="12701"/>
          <a:stretch/>
        </p:blipFill>
        <p:spPr>
          <a:xfrm>
            <a:off x="4824248" y="0"/>
            <a:ext cx="7367752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2FD0E31-A6B0-7BEF-1151-54D2FA4035A7}"/>
              </a:ext>
            </a:extLst>
          </p:cNvPr>
          <p:cNvSpPr txBox="1"/>
          <p:nvPr/>
        </p:nvSpPr>
        <p:spPr>
          <a:xfrm>
            <a:off x="670045" y="5834761"/>
            <a:ext cx="30135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Otávio Garcia </a:t>
            </a:r>
            <a:r>
              <a:rPr lang="pt-BR" dirty="0" err="1"/>
              <a:t>Capobianco</a:t>
            </a:r>
            <a:endParaRPr lang="pt-BR" dirty="0"/>
          </a:p>
          <a:p>
            <a:r>
              <a:rPr lang="pt-BR" dirty="0"/>
              <a:t>NUSP: 15482671</a:t>
            </a:r>
          </a:p>
        </p:txBody>
      </p:sp>
    </p:spTree>
    <p:extLst>
      <p:ext uri="{BB962C8B-B14F-4D97-AF65-F5344CB8AC3E}">
        <p14:creationId xmlns:p14="http://schemas.microsoft.com/office/powerpoint/2010/main" val="36772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C1684-192E-5D29-FCEF-A98B7D9C9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A386DC-417A-9A1D-FB74-EEB2FE50E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32086"/>
            <a:ext cx="10653579" cy="4593828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pt-BR" dirty="0"/>
              <a:t>Neste EP, implementamos um simulador de ciclistas competindo num velódromo, num modelo “Miss </a:t>
            </a:r>
            <a:r>
              <a:rPr lang="pt-BR" dirty="0" err="1"/>
              <a:t>and</a:t>
            </a:r>
            <a:r>
              <a:rPr lang="pt-BR" dirty="0"/>
              <a:t> Out”, sendo cada ciclista representado por uma thread única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Como cada ciclista age e se move de maneira individual, sem o controle direto de uma entidade central, são necessárias precauções para evitar condições de corrida e deadlocks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Nesta apresentação, discutiremos o desempenho de tempo e de uso de memória do programa, analisada sob condições variadas de:</a:t>
            </a:r>
          </a:p>
          <a:p>
            <a:pPr lvl="1"/>
            <a:r>
              <a:rPr lang="pt-BR" dirty="0"/>
              <a:t>Tamanho da pista</a:t>
            </a:r>
          </a:p>
          <a:p>
            <a:pPr lvl="1"/>
            <a:r>
              <a:rPr lang="pt-BR" dirty="0"/>
              <a:t>Quantidade de ciclistas</a:t>
            </a:r>
          </a:p>
          <a:p>
            <a:pPr lvl="1"/>
            <a:r>
              <a:rPr lang="pt-BR" dirty="0"/>
              <a:t>Abordagem, relativa a como tratamos condições de corrida, havendo uma forma simples porém ineficiente, e outra mais complexa mas (teoricamente) mais eficiente em tempo gasto</a:t>
            </a:r>
          </a:p>
        </p:txBody>
      </p:sp>
    </p:spTree>
    <p:extLst>
      <p:ext uri="{BB962C8B-B14F-4D97-AF65-F5344CB8AC3E}">
        <p14:creationId xmlns:p14="http://schemas.microsoft.com/office/powerpoint/2010/main" val="1948790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15F37-A025-131B-09A4-1D55DE75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0A705D-2521-1582-483F-880CA1BC4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32086"/>
            <a:ext cx="10653579" cy="459382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pt-BR" dirty="0"/>
              <a:t>Os experimentos aqui detalhados foram realizados num computador com:</a:t>
            </a:r>
          </a:p>
          <a:p>
            <a:pPr lvl="1"/>
            <a:r>
              <a:rPr lang="pt-BR" dirty="0"/>
              <a:t>Processador</a:t>
            </a:r>
            <a:r>
              <a:rPr lang="pt-BR" b="1" dirty="0"/>
              <a:t> Intel Core i5-5350U </a:t>
            </a:r>
            <a:r>
              <a:rPr lang="pt-BR" dirty="0"/>
              <a:t>com 2 núcleos físicos e 4 núcleos lógicos</a:t>
            </a:r>
          </a:p>
          <a:p>
            <a:pPr lvl="1"/>
            <a:r>
              <a:rPr lang="pt-BR" dirty="0"/>
              <a:t>8GB de memória RAM DDR3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O programa supõe um sistema operacional </a:t>
            </a:r>
            <a:r>
              <a:rPr lang="pt-BR" b="1" dirty="0"/>
              <a:t>Linux</a:t>
            </a:r>
            <a:r>
              <a:rPr lang="pt-BR" dirty="0"/>
              <a:t>, e a </a:t>
            </a:r>
            <a:r>
              <a:rPr lang="pt-BR" dirty="0" err="1"/>
              <a:t>distro</a:t>
            </a:r>
            <a:r>
              <a:rPr lang="pt-BR" dirty="0"/>
              <a:t> utilizada durante a execução dos programas foi o Ubuntu (v24.04.2)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Todo o código do simulador implementado foi escrito em C, e os gráficos presentes nesta apresentação foram gerados em Python, utilizando </a:t>
            </a:r>
            <a:r>
              <a:rPr lang="pt-BR" dirty="0" err="1"/>
              <a:t>Matplotlib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4878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12C00-DB83-7BA3-6C5E-D0E3D966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548485-7F9C-A510-EA21-3DA1E6066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14769"/>
            <a:ext cx="10653579" cy="53632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pt-BR" dirty="0"/>
              <a:t>Primeiro, tratemos de como implementamos a abordagem eficiente</a:t>
            </a:r>
          </a:p>
          <a:p>
            <a:pPr>
              <a:buFont typeface="Wingdings" pitchFamily="2" charset="2"/>
              <a:buChar char="§"/>
            </a:pPr>
            <a:r>
              <a:rPr lang="pt-BR" dirty="0">
                <a:cs typeface="Consolas" panose="020B0609020204030204" pitchFamily="49" charset="0"/>
              </a:rPr>
              <a:t>Com o objetivo de evitar a espera desnecessária da abordagem ingênua, criamos uma </a:t>
            </a:r>
            <a:r>
              <a:rPr lang="pt-BR" b="1" dirty="0">
                <a:cs typeface="Consolas" panose="020B0609020204030204" pitchFamily="49" charset="0"/>
              </a:rPr>
              <a:t>matriz de </a:t>
            </a:r>
            <a:r>
              <a:rPr lang="pt-BR" b="1" dirty="0" err="1">
                <a:cs typeface="Consolas" panose="020B0609020204030204" pitchFamily="49" charset="0"/>
              </a:rPr>
              <a:t>mutexes</a:t>
            </a:r>
            <a:r>
              <a:rPr lang="pt-BR" dirty="0">
                <a:cs typeface="Consolas" panose="020B0609020204030204" pitchFamily="49" charset="0"/>
              </a:rPr>
              <a:t>, </a:t>
            </a:r>
            <a:r>
              <a:rPr lang="pt-BR" dirty="0" err="1">
                <a:latin typeface="Consolas" panose="020B0609020204030204" pitchFamily="49" charset="0"/>
                <a:cs typeface="Consolas" panose="020B0609020204030204" pitchFamily="49" charset="0"/>
              </a:rPr>
              <a:t>lock_posicoes</a:t>
            </a:r>
            <a:r>
              <a:rPr lang="pt-BR" dirty="0">
                <a:cs typeface="Consolas" panose="020B0609020204030204" pitchFamily="49" charset="0"/>
              </a:rPr>
              <a:t>, onde </a:t>
            </a:r>
            <a:r>
              <a:rPr lang="pt-BR" b="1" dirty="0">
                <a:cs typeface="Consolas" panose="020B0609020204030204" pitchFamily="49" charset="0"/>
              </a:rPr>
              <a:t>cada </a:t>
            </a:r>
            <a:r>
              <a:rPr lang="pt-BR" b="1" dirty="0" err="1">
                <a:cs typeface="Consolas" panose="020B0609020204030204" pitchFamily="49" charset="0"/>
              </a:rPr>
              <a:t>mutex</a:t>
            </a:r>
            <a:r>
              <a:rPr lang="pt-BR" b="1" dirty="0">
                <a:cs typeface="Consolas" panose="020B0609020204030204" pitchFamily="49" charset="0"/>
              </a:rPr>
              <a:t> corresponde a uma posição </a:t>
            </a:r>
            <a:r>
              <a:rPr lang="pt-BR" dirty="0">
                <a:cs typeface="Consolas" panose="020B0609020204030204" pitchFamily="49" charset="0"/>
              </a:rPr>
              <a:t>de 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pista</a:t>
            </a:r>
            <a:r>
              <a:rPr lang="pt-BR" dirty="0">
                <a:cs typeface="Consolas" panose="020B0609020204030204" pitchFamily="49" charset="0"/>
              </a:rPr>
              <a:t>, de modo que cada ciclista precisa bloquear apenas os </a:t>
            </a:r>
            <a:r>
              <a:rPr lang="pt-BR" dirty="0" err="1">
                <a:cs typeface="Consolas" panose="020B0609020204030204" pitchFamily="49" charset="0"/>
              </a:rPr>
              <a:t>mutexes</a:t>
            </a:r>
            <a:r>
              <a:rPr lang="pt-BR" dirty="0">
                <a:cs typeface="Consolas" panose="020B0609020204030204" pitchFamily="49" charset="0"/>
              </a:rPr>
              <a:t> </a:t>
            </a:r>
            <a:r>
              <a:rPr lang="pt-BR" dirty="0" err="1">
                <a:latin typeface="Consolas" panose="020B0609020204030204" pitchFamily="49" charset="0"/>
                <a:cs typeface="Consolas" panose="020B0609020204030204" pitchFamily="49" charset="0"/>
              </a:rPr>
              <a:t>lock_posicoes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][</a:t>
            </a:r>
            <a:r>
              <a:rPr lang="pt-BR" dirty="0" err="1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pt-BR" dirty="0">
                <a:cs typeface="Consolas" panose="020B0609020204030204" pitchFamily="49" charset="0"/>
              </a:rPr>
              <a:t> relevantes.</a:t>
            </a:r>
          </a:p>
          <a:p>
            <a:pPr>
              <a:buFont typeface="Wingdings" pitchFamily="2" charset="2"/>
              <a:buChar char="§"/>
            </a:pPr>
            <a:r>
              <a:rPr lang="pt-BR" dirty="0">
                <a:cs typeface="Consolas" panose="020B0609020204030204" pitchFamily="49" charset="0"/>
              </a:rPr>
              <a:t>Em qualquer dado momento, </a:t>
            </a:r>
            <a:r>
              <a:rPr lang="pt-BR" b="1" dirty="0">
                <a:cs typeface="Consolas" panose="020B0609020204030204" pitchFamily="49" charset="0"/>
              </a:rPr>
              <a:t>um ciclista trava no máximo 2 </a:t>
            </a:r>
            <a:r>
              <a:rPr lang="pt-BR" b="1" dirty="0" err="1">
                <a:cs typeface="Consolas" panose="020B0609020204030204" pitchFamily="49" charset="0"/>
              </a:rPr>
              <a:t>mutexes</a:t>
            </a:r>
            <a:r>
              <a:rPr lang="pt-BR" dirty="0">
                <a:cs typeface="Consolas" panose="020B0609020204030204" pitchFamily="49" charset="0"/>
              </a:rPr>
              <a:t>: um de sua própria posição (ou a posição vertical que está considerando, na ultrapassagem), e outro da posição na sua frente, para onde pretende se mover. Conforme ele considera novas faixas para ultrapassar, destrava os </a:t>
            </a:r>
            <a:r>
              <a:rPr lang="pt-BR" dirty="0" err="1">
                <a:cs typeface="Consolas" panose="020B0609020204030204" pitchFamily="49" charset="0"/>
              </a:rPr>
              <a:t>mutexes</a:t>
            </a:r>
            <a:r>
              <a:rPr lang="pt-BR" dirty="0">
                <a:cs typeface="Consolas" panose="020B0609020204030204" pitchFamily="49" charset="0"/>
              </a:rPr>
              <a:t> da faixa anterior</a:t>
            </a:r>
          </a:p>
          <a:p>
            <a:pPr>
              <a:buFont typeface="Wingdings" pitchFamily="2" charset="2"/>
              <a:buChar char="§"/>
            </a:pPr>
            <a:r>
              <a:rPr lang="pt-BR" dirty="0">
                <a:cs typeface="Consolas" panose="020B0609020204030204" pitchFamily="49" charset="0"/>
              </a:rPr>
              <a:t>Para evitar um problema de deadlock tal qual o dos filósofos famintos, o caso em que uma dada faixa está cheia e todos os ciclistas dela vão se mover é considerado antes, e cada ciclista move-se para a frente sem a necessidade de </a:t>
            </a:r>
            <a:r>
              <a:rPr lang="pt-BR" dirty="0" err="1">
                <a:cs typeface="Consolas" panose="020B0609020204030204" pitchFamily="49" charset="0"/>
              </a:rPr>
              <a:t>mutexes</a:t>
            </a:r>
            <a:endParaRPr lang="pt-BR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132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0663A-44E9-BC27-9C09-616B6D8C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C5734E-0185-A12F-B0A7-8938C0D9E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14769"/>
            <a:ext cx="10653579" cy="4593828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pt-BR" dirty="0">
                <a:cs typeface="Consolas" panose="020B0609020204030204" pitchFamily="49" charset="0"/>
              </a:rPr>
              <a:t>Para garantir que um ciclista não ignore uma posição para a qual ele poderia se mover logo após o ciclista da frente se mover (no mesmo turno do relógio), aquele ciclista vai esperar que o da frente acabe suas ações daquele turno. Por conta disso, quando um ciclista acaba o que ia fazer, </a:t>
            </a:r>
            <a:r>
              <a:rPr lang="pt-BR" b="1" dirty="0">
                <a:cs typeface="Consolas" panose="020B0609020204030204" pitchFamily="49" charset="0"/>
              </a:rPr>
              <a:t>envia um </a:t>
            </a:r>
            <a:r>
              <a:rPr lang="pt-BR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cond_signal</a:t>
            </a:r>
            <a:r>
              <a:rPr lang="pt-BR" b="1" dirty="0">
                <a:cs typeface="Consolas" panose="020B0609020204030204" pitchFamily="49" charset="0"/>
              </a:rPr>
              <a:t> para sua posição original</a:t>
            </a:r>
            <a:r>
              <a:rPr lang="pt-BR" dirty="0">
                <a:cs typeface="Consolas" panose="020B0609020204030204" pitchFamily="49" charset="0"/>
              </a:rPr>
              <a:t>. Desse modo, nesta abordagem, precisamos também de uma </a:t>
            </a:r>
            <a:r>
              <a:rPr lang="pt-BR" b="1" dirty="0">
                <a:cs typeface="Consolas" panose="020B0609020204030204" pitchFamily="49" charset="0"/>
              </a:rPr>
              <a:t>matriz de variáveis de condição</a:t>
            </a:r>
            <a:r>
              <a:rPr lang="pt-BR" dirty="0">
                <a:cs typeface="Consolas" panose="020B0609020204030204" pitchFamily="49" charset="0"/>
              </a:rPr>
              <a:t>, denotada </a:t>
            </a:r>
            <a:r>
              <a:rPr lang="pt-BR" dirty="0" err="1">
                <a:latin typeface="Consolas" panose="020B0609020204030204" pitchFamily="49" charset="0"/>
                <a:cs typeface="Consolas" panose="020B0609020204030204" pitchFamily="49" charset="0"/>
              </a:rPr>
              <a:t>cond_posicoes</a:t>
            </a:r>
            <a:endParaRPr lang="pt-BR" dirty="0">
              <a:cs typeface="Consolas" panose="020B0609020204030204" pitchFamily="49" charset="0"/>
            </a:endParaRPr>
          </a:p>
          <a:p>
            <a:pPr>
              <a:buFont typeface="Wingdings" pitchFamily="2" charset="2"/>
              <a:buChar char="§"/>
            </a:pPr>
            <a:r>
              <a:rPr lang="pt-BR" dirty="0">
                <a:cs typeface="Consolas" panose="020B0609020204030204" pitchFamily="49" charset="0"/>
              </a:rPr>
              <a:t>Embora o gerenciamento desses semáforos e condições introduza um overhead e gaste mais memória do que a outra abordagem, supomos que o ganho de desempenho de tempo será significativo o bastante para ignorar esses pequenos custos.</a:t>
            </a:r>
            <a:endParaRPr lang="pt-BR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19210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AF2C3-CE0B-BFDA-2F07-2986546D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081515-E308-FAAA-0093-1EE55E9BF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14769"/>
            <a:ext cx="10653579" cy="4593828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pt-BR" dirty="0"/>
              <a:t>Para avaliar o desempenho do programa, realizamos testes da seguinte forma:</a:t>
            </a:r>
          </a:p>
          <a:p>
            <a:pPr lvl="1"/>
            <a:r>
              <a:rPr lang="pt-BR" dirty="0"/>
              <a:t>Para um tamanho de pista fixo (100m), variamos a quantidade de ciclistas entre poucos (30), normal (150) e muitos (450)</a:t>
            </a:r>
          </a:p>
          <a:p>
            <a:pPr lvl="1"/>
            <a:r>
              <a:rPr lang="pt-BR" dirty="0"/>
              <a:t>Para uma quantidade de ciclistas fixa (100), variamos o tamanho da pista entre pequena (100m), média (300m) e grande (600m)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Para cada um dos acima, consideramos as 2 abordagens, totalizando 12 combinações distintas.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Para cada uma das combinações, rodamos o programa 30 vezes, e os resultados dispostos a seguir incluem a média e intervalo de confiança com nível de confiança 95% resultantes dessas 30 medições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Vale notar que, para melhorar a coerência dos resultados, apenas o SO e terminais com o próprio EP estavam rodando simultaneamente a essas medições</a:t>
            </a:r>
          </a:p>
        </p:txBody>
      </p:sp>
    </p:spTree>
    <p:extLst>
      <p:ext uri="{BB962C8B-B14F-4D97-AF65-F5344CB8AC3E}">
        <p14:creationId xmlns:p14="http://schemas.microsoft.com/office/powerpoint/2010/main" val="3982535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44E04-59A6-9D4A-F6DD-742C12E7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F756EF-5C71-C1AD-077A-55104DF0E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14768"/>
            <a:ext cx="10653579" cy="553541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pt-BR" dirty="0"/>
              <a:t>Para o tempo gasto, existem duas principais fontes de custo</a:t>
            </a:r>
          </a:p>
          <a:p>
            <a:pPr lvl="1"/>
            <a:r>
              <a:rPr lang="pt-BR" b="1" dirty="0"/>
              <a:t>Quantidade de turnos</a:t>
            </a:r>
            <a:r>
              <a:rPr lang="pt-BR" dirty="0"/>
              <a:t> (intervalos de 60ms) necessários para acabar, que é impactada tanto pelo </a:t>
            </a:r>
            <a:r>
              <a:rPr lang="pt-BR" b="1" dirty="0"/>
              <a:t>tamanho da pista</a:t>
            </a:r>
            <a:r>
              <a:rPr lang="pt-BR" dirty="0"/>
              <a:t> (demora mais para ter voltas pares e quebras) quanto pela </a:t>
            </a:r>
            <a:r>
              <a:rPr lang="pt-BR" b="1" dirty="0"/>
              <a:t>quantidade de ciclistas</a:t>
            </a:r>
            <a:r>
              <a:rPr lang="pt-BR" dirty="0"/>
              <a:t> (são necessárias mais eliminações e quebras)</a:t>
            </a:r>
          </a:p>
          <a:p>
            <a:pPr lvl="1"/>
            <a:r>
              <a:rPr lang="pt-BR" dirty="0"/>
              <a:t>Quanto tempo leva a </a:t>
            </a:r>
            <a:r>
              <a:rPr lang="pt-BR" b="1" dirty="0"/>
              <a:t>execução de cada turno</a:t>
            </a:r>
            <a:r>
              <a:rPr lang="pt-BR" dirty="0"/>
              <a:t>, que é impactado pela </a:t>
            </a:r>
            <a:r>
              <a:rPr lang="pt-BR" b="1" dirty="0"/>
              <a:t>quantidade de ciclistas </a:t>
            </a:r>
            <a:r>
              <a:rPr lang="pt-BR" dirty="0"/>
              <a:t>(mais cálculos de movimento e de fim de volta para realizar) e pelo uso da </a:t>
            </a:r>
            <a:r>
              <a:rPr lang="pt-BR" b="1" dirty="0"/>
              <a:t>abordagem ingênua </a:t>
            </a:r>
            <a:r>
              <a:rPr lang="pt-BR" dirty="0"/>
              <a:t>(mais espera desnecessária)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Para o uso de memória, temos as causas</a:t>
            </a:r>
          </a:p>
          <a:p>
            <a:pPr lvl="1"/>
            <a:r>
              <a:rPr lang="pt-BR" dirty="0"/>
              <a:t>Representar as matrizes e vetores dependentes do </a:t>
            </a:r>
            <a:r>
              <a:rPr lang="pt-BR" b="1" dirty="0"/>
              <a:t>tamanho da pista</a:t>
            </a:r>
            <a:r>
              <a:rPr lang="pt-BR" dirty="0"/>
              <a:t>. Aqui, temos também os </a:t>
            </a:r>
            <a:r>
              <a:rPr lang="pt-BR" dirty="0" err="1"/>
              <a:t>mutexes</a:t>
            </a:r>
            <a:r>
              <a:rPr lang="pt-BR" dirty="0"/>
              <a:t> e </a:t>
            </a:r>
            <a:r>
              <a:rPr lang="pt-BR" dirty="0" err="1"/>
              <a:t>conds</a:t>
            </a:r>
            <a:r>
              <a:rPr lang="pt-BR" dirty="0"/>
              <a:t> extra da </a:t>
            </a:r>
            <a:r>
              <a:rPr lang="pt-BR" b="1" dirty="0"/>
              <a:t>abordagem eficiente</a:t>
            </a:r>
          </a:p>
          <a:p>
            <a:pPr lvl="1"/>
            <a:r>
              <a:rPr lang="pt-BR" dirty="0"/>
              <a:t>Guardar informações de </a:t>
            </a:r>
            <a:r>
              <a:rPr lang="pt-BR" b="1" dirty="0"/>
              <a:t>cada ciclista</a:t>
            </a:r>
          </a:p>
          <a:p>
            <a:pPr lvl="1"/>
            <a:r>
              <a:rPr lang="pt-BR" dirty="0"/>
              <a:t>Estruturas de dados que gerenciam </a:t>
            </a:r>
            <a:r>
              <a:rPr lang="pt-BR" b="1" dirty="0"/>
              <a:t>fins de volta, eliminações e quebras</a:t>
            </a:r>
            <a:r>
              <a:rPr lang="pt-BR" dirty="0"/>
              <a:t>, o que depende de </a:t>
            </a:r>
            <a:r>
              <a:rPr lang="pt-BR" b="1" dirty="0"/>
              <a:t>quantidade de ciclistas </a:t>
            </a:r>
            <a:r>
              <a:rPr lang="pt-BR" dirty="0"/>
              <a:t>finalizando voltas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Esperamos que os resultados dos testes realizados concordem com o exposto acima</a:t>
            </a:r>
          </a:p>
          <a:p>
            <a:endParaRPr lang="pt-BR" dirty="0"/>
          </a:p>
          <a:p>
            <a:pPr lvl="1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3225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F14A7-28EB-6142-3B07-BEB7D239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Experimentos – Tempo </a:t>
            </a:r>
            <a:r>
              <a:rPr lang="pt-BR" dirty="0" err="1"/>
              <a:t>x</a:t>
            </a:r>
            <a:r>
              <a:rPr lang="pt-BR" dirty="0"/>
              <a:t> Ciclistas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3652F339-E10C-8AAF-9F74-B37B2C2C49D7}"/>
              </a:ext>
            </a:extLst>
          </p:cNvPr>
          <p:cNvSpPr txBox="1">
            <a:spLocks/>
          </p:cNvSpPr>
          <p:nvPr/>
        </p:nvSpPr>
        <p:spPr>
          <a:xfrm>
            <a:off x="612648" y="1119195"/>
            <a:ext cx="5615961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C45A007-04E8-E1F2-C44F-1540276B30E5}"/>
              </a:ext>
            </a:extLst>
          </p:cNvPr>
          <p:cNvSpPr txBox="1">
            <a:spLocks/>
          </p:cNvSpPr>
          <p:nvPr/>
        </p:nvSpPr>
        <p:spPr>
          <a:xfrm>
            <a:off x="612648" y="1114768"/>
            <a:ext cx="5513254" cy="54641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pt-BR" dirty="0"/>
              <a:t>Aqui, notamos claramente que o tempo aumenta de acordo com o aumento dos ciclistas, e que a abordagem eficiente é melhor que a ingênua, como esperado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É interessante notar, também, que a </a:t>
            </a:r>
            <a:r>
              <a:rPr lang="pt-BR" b="1" dirty="0"/>
              <a:t>diferença proporcional entre as duas abordagens cresce</a:t>
            </a:r>
            <a:r>
              <a:rPr lang="pt-BR" dirty="0"/>
              <a:t> com o aumento dos ciclistas, sendo (pela média) a eficiente em torno de  30% mais rápida para 30 e 150 ciclistas, mas 62% para 450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Isso ocorre pelo aumento de ciclistas em espera desnecessária, que eleva o tempo de cada turno, junto de mais turnos necessários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Para mais ciclistas, há um maior intervalo de confiança. Entretanto, o crescimento do intervalo parece proporcional ao aumento da média de cada teste, o que é natural</a:t>
            </a:r>
          </a:p>
        </p:txBody>
      </p:sp>
      <p:pic>
        <p:nvPicPr>
          <p:cNvPr id="9" name="Espaço Reservado para Conteúdo 8" descr="Gráfico, Gráfico de barras&#10;&#10;Descrição gerada automaticamente">
            <a:extLst>
              <a:ext uri="{FF2B5EF4-FFF2-40B4-BE49-F238E27FC236}">
                <a16:creationId xmlns:a16="http://schemas.microsoft.com/office/drawing/2014/main" id="{69C36196-B009-1325-45BA-FEFA85DB7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8609" y="1314982"/>
            <a:ext cx="5513254" cy="4763957"/>
          </a:xfrm>
        </p:spPr>
      </p:pic>
    </p:spTree>
    <p:extLst>
      <p:ext uri="{BB962C8B-B14F-4D97-AF65-F5344CB8AC3E}">
        <p14:creationId xmlns:p14="http://schemas.microsoft.com/office/powerpoint/2010/main" val="1033813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F14A7-28EB-6142-3B07-BEB7D239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Experimentos – Tempo </a:t>
            </a:r>
            <a:r>
              <a:rPr lang="pt-BR" dirty="0" err="1"/>
              <a:t>x</a:t>
            </a:r>
            <a:r>
              <a:rPr lang="pt-BR" dirty="0"/>
              <a:t> Pista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3652F339-E10C-8AAF-9F74-B37B2C2C49D7}"/>
              </a:ext>
            </a:extLst>
          </p:cNvPr>
          <p:cNvSpPr txBox="1">
            <a:spLocks/>
          </p:cNvSpPr>
          <p:nvPr/>
        </p:nvSpPr>
        <p:spPr>
          <a:xfrm>
            <a:off x="612648" y="1119195"/>
            <a:ext cx="5615961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C45A007-04E8-E1F2-C44F-1540276B30E5}"/>
              </a:ext>
            </a:extLst>
          </p:cNvPr>
          <p:cNvSpPr txBox="1">
            <a:spLocks/>
          </p:cNvSpPr>
          <p:nvPr/>
        </p:nvSpPr>
        <p:spPr>
          <a:xfrm>
            <a:off x="612648" y="1114768"/>
            <a:ext cx="5513254" cy="5464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pt-BR" dirty="0"/>
              <a:t>Novamente, como esperado, quanto maior a pista, mais tempo leva o programa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As diferenças de tempo entre os tamanhos são apenas pela </a:t>
            </a:r>
            <a:r>
              <a:rPr lang="pt-BR" b="1" dirty="0"/>
              <a:t>quantia de turnos extra </a:t>
            </a:r>
            <a:r>
              <a:rPr lang="pt-BR" dirty="0"/>
              <a:t>necessária, não pelo tempo de cada turno, o que concorda com o discutido antes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Diferente do último teste, a </a:t>
            </a:r>
            <a:r>
              <a:rPr lang="pt-BR" b="1" dirty="0"/>
              <a:t>proporção entre as abordagens manteve-se a mesma</a:t>
            </a:r>
            <a:r>
              <a:rPr lang="pt-BR" dirty="0"/>
              <a:t>. Isso faz sentido, pois o tempo extra da ingênua é dado apenas pela quantidade de ciclistas esperando desnecessariamente. Logo, sem aumentar os ciclistas, esse tempo a mais é proporcionalmente o mesmo</a:t>
            </a:r>
          </a:p>
        </p:txBody>
      </p:sp>
      <p:pic>
        <p:nvPicPr>
          <p:cNvPr id="5" name="Imagem 4" descr="Gráfico, Gráfico de barras&#10;&#10;Descrição gerada automaticamente">
            <a:extLst>
              <a:ext uri="{FF2B5EF4-FFF2-40B4-BE49-F238E27FC236}">
                <a16:creationId xmlns:a16="http://schemas.microsoft.com/office/drawing/2014/main" id="{813A0427-D636-E9D1-9A2E-04E0D2529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334814"/>
            <a:ext cx="5668262" cy="470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72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F14A7-28EB-6142-3B07-BEB7D239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Experimentos – Memória </a:t>
            </a:r>
            <a:r>
              <a:rPr lang="pt-BR" dirty="0" err="1"/>
              <a:t>x</a:t>
            </a:r>
            <a:r>
              <a:rPr lang="pt-BR" dirty="0"/>
              <a:t> Ciclistas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3652F339-E10C-8AAF-9F74-B37B2C2C49D7}"/>
              </a:ext>
            </a:extLst>
          </p:cNvPr>
          <p:cNvSpPr txBox="1">
            <a:spLocks/>
          </p:cNvSpPr>
          <p:nvPr/>
        </p:nvSpPr>
        <p:spPr>
          <a:xfrm>
            <a:off x="612648" y="1119195"/>
            <a:ext cx="5615961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C45A007-04E8-E1F2-C44F-1540276B30E5}"/>
              </a:ext>
            </a:extLst>
          </p:cNvPr>
          <p:cNvSpPr txBox="1">
            <a:spLocks/>
          </p:cNvSpPr>
          <p:nvPr/>
        </p:nvSpPr>
        <p:spPr>
          <a:xfrm>
            <a:off x="612648" y="1114768"/>
            <a:ext cx="5513254" cy="5464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pt-BR" dirty="0"/>
              <a:t>O aumento de ciclistas eleva a memória utilizada, principalmente pela última razão proposta anteriormente, relativa ao uso de </a:t>
            </a:r>
            <a:r>
              <a:rPr lang="pt-BR" b="1" dirty="0"/>
              <a:t>estruturas que gerenciam voltas</a:t>
            </a:r>
            <a:r>
              <a:rPr lang="pt-BR" dirty="0"/>
              <a:t> finalizadas e eliminações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Como esperado, a </a:t>
            </a:r>
            <a:r>
              <a:rPr lang="pt-BR" b="1" dirty="0"/>
              <a:t>abordagem eficiente </a:t>
            </a:r>
            <a:r>
              <a:rPr lang="pt-BR" dirty="0"/>
              <a:t>usa em geral um pouco de </a:t>
            </a:r>
            <a:r>
              <a:rPr lang="pt-BR" b="1" dirty="0"/>
              <a:t>memória a mais</a:t>
            </a:r>
            <a:r>
              <a:rPr lang="pt-BR" dirty="0"/>
              <a:t>, principalmente pela citada necessidade de criar matrizes de </a:t>
            </a:r>
            <a:r>
              <a:rPr lang="pt-BR" dirty="0" err="1"/>
              <a:t>mutexes</a:t>
            </a:r>
            <a:r>
              <a:rPr lang="pt-BR" dirty="0"/>
              <a:t> e de </a:t>
            </a:r>
            <a:r>
              <a:rPr lang="pt-BR" dirty="0" err="1"/>
              <a:t>conds</a:t>
            </a:r>
            <a:endParaRPr lang="pt-BR" dirty="0"/>
          </a:p>
          <a:p>
            <a:pPr>
              <a:buFont typeface="Wingdings" pitchFamily="2" charset="2"/>
              <a:buChar char="§"/>
            </a:pPr>
            <a:endParaRPr lang="pt-BR" dirty="0"/>
          </a:p>
        </p:txBody>
      </p:sp>
      <p:pic>
        <p:nvPicPr>
          <p:cNvPr id="4" name="Imagem 3" descr="Gráfico, Gráfico de barras&#10;&#10;Descrição gerada automaticamente">
            <a:extLst>
              <a:ext uri="{FF2B5EF4-FFF2-40B4-BE49-F238E27FC236}">
                <a16:creationId xmlns:a16="http://schemas.microsoft.com/office/drawing/2014/main" id="{165F3A2D-683C-3EB3-36BA-228F00400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437" y="1228557"/>
            <a:ext cx="5917576" cy="493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44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F14A7-28EB-6142-3B07-BEB7D239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Experimentos – Memória </a:t>
            </a:r>
            <a:r>
              <a:rPr lang="pt-BR" dirty="0" err="1"/>
              <a:t>x</a:t>
            </a:r>
            <a:r>
              <a:rPr lang="pt-BR" dirty="0"/>
              <a:t> Pista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3652F339-E10C-8AAF-9F74-B37B2C2C49D7}"/>
              </a:ext>
            </a:extLst>
          </p:cNvPr>
          <p:cNvSpPr txBox="1">
            <a:spLocks/>
          </p:cNvSpPr>
          <p:nvPr/>
        </p:nvSpPr>
        <p:spPr>
          <a:xfrm>
            <a:off x="612648" y="1119195"/>
            <a:ext cx="5615961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C45A007-04E8-E1F2-C44F-1540276B30E5}"/>
              </a:ext>
            </a:extLst>
          </p:cNvPr>
          <p:cNvSpPr txBox="1">
            <a:spLocks/>
          </p:cNvSpPr>
          <p:nvPr/>
        </p:nvSpPr>
        <p:spPr>
          <a:xfrm>
            <a:off x="612648" y="1114768"/>
            <a:ext cx="5513254" cy="5464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pt-BR" dirty="0"/>
              <a:t>Aqui, embora a memória gasta aumente com o tamanho da pista, o aumento em si é bem pequeno. Isso indica que há uma </a:t>
            </a:r>
            <a:r>
              <a:rPr lang="pt-BR" b="1" dirty="0"/>
              <a:t>correlação mais forte entre ciclistas e memória</a:t>
            </a:r>
            <a:r>
              <a:rPr lang="pt-BR" dirty="0"/>
              <a:t> do que tamanho de pista e memória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A razão para tal é que as já mencionadas estruturas de gerência de voltas podem facilmente se </a:t>
            </a:r>
            <a:r>
              <a:rPr lang="pt-BR" b="1" dirty="0"/>
              <a:t>acumular</a:t>
            </a:r>
            <a:r>
              <a:rPr lang="pt-BR" dirty="0"/>
              <a:t> quando há muitos ciclistas concluindo voltas em um curto intervalo de tempo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O tamanho da pista acaba por impactar apenas algumas matrizes e vetores de tamanho fixo, que dependem dele</a:t>
            </a:r>
          </a:p>
        </p:txBody>
      </p:sp>
      <p:pic>
        <p:nvPicPr>
          <p:cNvPr id="5" name="Imagem 4" descr="Gráfico, Gráfico de barras&#10;&#10;Descrição gerada automaticamente">
            <a:extLst>
              <a:ext uri="{FF2B5EF4-FFF2-40B4-BE49-F238E27FC236}">
                <a16:creationId xmlns:a16="http://schemas.microsoft.com/office/drawing/2014/main" id="{28B707E3-1213-7C84-9F20-54D9CFCA2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282262"/>
            <a:ext cx="5644898" cy="4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98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089CE-467D-F616-182F-F3429EDD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DBA55B-6F5A-2DED-9574-FE692F115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14769"/>
            <a:ext cx="10653579" cy="5286032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pt-BR" dirty="0"/>
              <a:t>Prever com precisão o comportamento de um sistema com tantas variáveis móveis e “independentes”, como os ciclistas, pode ser complicado e levar a resultados não tão óbvios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De modo geral, no entanto, os resultados aqui dispostos </a:t>
            </a:r>
            <a:r>
              <a:rPr lang="pt-BR" b="1" dirty="0"/>
              <a:t>seguiram o que era esperado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O impacto de adicionar mais ciclistas, especificamente, é interessante, pois torna a execução do programa significativamente mais custosa, para pequenas variações na quantidade. Para o limite de ciclistas que espera-se que o programa admita (12500), por exemplo, seria inviável rodá-lo 30 vezes para realizar os testes</a:t>
            </a:r>
          </a:p>
          <a:p>
            <a:pPr>
              <a:buFont typeface="Wingdings" pitchFamily="2" charset="2"/>
              <a:buChar char="§"/>
            </a:pPr>
            <a:r>
              <a:rPr lang="pt-BR" dirty="0"/>
              <a:t>Esse impacto, também, revela a importância de um </a:t>
            </a:r>
            <a:r>
              <a:rPr lang="pt-BR" b="1" dirty="0"/>
              <a:t>bom gerenciamento de múltiplas threads</a:t>
            </a:r>
            <a:r>
              <a:rPr lang="pt-BR" dirty="0"/>
              <a:t> rodando simultaneamente, como visto na diferença entre a abordagem eficiente e ingênua. Uma maior quantidade de cores também poderia apresentar uma redução significativa da perda de performance que esses vários ciclistas trazem. Por estas razões, é importante ter uma máquina adequada e um planejamento bem estruturado ao lidar com problemas de programação concorrente</a:t>
            </a:r>
          </a:p>
        </p:txBody>
      </p:sp>
    </p:spTree>
    <p:extLst>
      <p:ext uri="{BB962C8B-B14F-4D97-AF65-F5344CB8AC3E}">
        <p14:creationId xmlns:p14="http://schemas.microsoft.com/office/powerpoint/2010/main" val="345359862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1373</Words>
  <Application>Microsoft Macintosh PowerPoint</Application>
  <PresentationFormat>Widescreen</PresentationFormat>
  <Paragraphs>64</Paragraphs>
  <Slides>12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Neue Haas Grotesk Text Pro</vt:lpstr>
      <vt:lpstr>Wingdings</vt:lpstr>
      <vt:lpstr>VanillaVTI</vt:lpstr>
      <vt:lpstr>Ciclistas: Miss and Out</vt:lpstr>
      <vt:lpstr>Introdução</vt:lpstr>
      <vt:lpstr>Especificações</vt:lpstr>
      <vt:lpstr>Implementação</vt:lpstr>
      <vt:lpstr>Implementação</vt:lpstr>
      <vt:lpstr>Experimentos</vt:lpstr>
      <vt:lpstr>Experimentos</vt:lpstr>
      <vt:lpstr>Experimentos – Tempo x Ciclistas</vt:lpstr>
      <vt:lpstr>Experimentos – Tempo x Pista</vt:lpstr>
      <vt:lpstr>Experimentos – Memória x Ciclistas</vt:lpstr>
      <vt:lpstr>Experimentos – Memória x Pista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Comparação entre Algoritmos de Escalonamento</dc:title>
  <dc:creator>Rodrigo Julio Capobianco</dc:creator>
  <cp:lastModifiedBy>Rodrigo Julio Capobianco</cp:lastModifiedBy>
  <cp:revision>51</cp:revision>
  <dcterms:created xsi:type="dcterms:W3CDTF">2025-04-12T02:55:46Z</dcterms:created>
  <dcterms:modified xsi:type="dcterms:W3CDTF">2025-05-16T17:34:12Z</dcterms:modified>
</cp:coreProperties>
</file>